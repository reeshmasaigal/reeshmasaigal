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Calibri" panose="020F0502020204030204" pitchFamily="34" charset="0"/>
      <p:regular r:id="rId22"/>
      <p:bold r:id="rId23"/>
      <p:italic r:id="rId24"/>
      <p:boldItalic r:id="rId25"/>
    </p:embeddedFont>
    <p:embeddedFont>
      <p:font typeface="Noto Sans Symbols"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o4qLHNXtl9KW8p6vrhbFT3SbZ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49" autoAdjust="0"/>
    <p:restoredTop sz="94660"/>
  </p:normalViewPr>
  <p:slideViewPr>
    <p:cSldViewPr snapToGrid="0">
      <p:cViewPr>
        <p:scale>
          <a:sx n="75" d="100"/>
          <a:sy n="75" d="100"/>
        </p:scale>
        <p:origin x="758"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Hello Everyone,Welcome to Aitrich Accademy….Today we are discussing about the topic MVC That is Model View Conteroller.</a:t>
            </a:r>
            <a:r>
              <a:rPr lang="en-US" b="0" i="0">
                <a:solidFill>
                  <a:srgbClr val="374151"/>
                </a:solidFill>
                <a:latin typeface="Arial"/>
                <a:ea typeface="Arial"/>
                <a:cs typeface="Arial"/>
                <a:sym typeface="Arial"/>
              </a:rPr>
              <a:t> a fundamental concept in software architecture</a:t>
            </a: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a:solidFill>
                  <a:schemeClr val="dk2"/>
                </a:solidFill>
              </a:rPr>
              <a:t>What is MVC?</a:t>
            </a:r>
            <a:endParaRPr/>
          </a:p>
          <a:p>
            <a:pPr marL="0" marR="0" lvl="0" indent="0" algn="l" rtl="0">
              <a:lnSpc>
                <a:spcPct val="100000"/>
              </a:lnSpc>
              <a:spcBef>
                <a:spcPts val="0"/>
              </a:spcBef>
              <a:spcAft>
                <a:spcPts val="0"/>
              </a:spcAft>
              <a:buClr>
                <a:srgbClr val="000000"/>
              </a:buClr>
              <a:buSzPts val="1400"/>
              <a:buFont typeface="Arial"/>
              <a:buNone/>
            </a:pPr>
            <a:r>
              <a:rPr lang="en-US" b="0" i="0">
                <a:solidFill>
                  <a:srgbClr val="374151"/>
                </a:solidFill>
                <a:latin typeface="Arial"/>
                <a:ea typeface="Arial"/>
                <a:cs typeface="Arial"/>
                <a:sym typeface="Arial"/>
              </a:rPr>
              <a:t> MVC was introduced in the 1970s and has since become a cornerstone in organizing and developing robust and scalable applications It is architectural pattern aims to separate an application into three interconnected components, each handling a specific set of responsibilities. It stands for Model, View, and Controller.</a:t>
            </a:r>
            <a:r>
              <a:rPr lang="en-US" b="0" i="0">
                <a:solidFill>
                  <a:srgbClr val="1F1F1F"/>
                </a:solidFill>
                <a:latin typeface="Arial"/>
                <a:ea typeface="Arial"/>
                <a:cs typeface="Arial"/>
                <a:sym typeface="Arial"/>
              </a:rPr>
              <a:t> MVC (Model-View-Controller) is indeed an architectural design pattern used at the architectural level of an application. It defines a high-level structure for separating the presentation (view), data (model), and business logic (controller) of an application, aiming to improve the organization, maintainability, and testability of code.</a:t>
            </a:r>
            <a:r>
              <a:rPr lang="en-US" sz="1200" b="0" i="0" u="none" strike="noStrike" cap="none">
                <a:solidFill>
                  <a:schemeClr val="dk1"/>
                </a:solidFill>
                <a:latin typeface="Calibri"/>
                <a:ea typeface="Calibri"/>
                <a:cs typeface="Calibri"/>
                <a:sym typeface="Calibri"/>
              </a:rPr>
              <a:t> </a:t>
            </a:r>
            <a:r>
              <a:rPr lang="en-US" b="0" i="0">
                <a:solidFill>
                  <a:srgbClr val="374151"/>
                </a:solidFill>
                <a:latin typeface="Arial"/>
                <a:ea typeface="Arial"/>
                <a:cs typeface="Arial"/>
                <a:sym typeface="Arial"/>
              </a:rPr>
              <a:t>MVC is not a ready-made tool but more like a blueprint for structuring code.</a:t>
            </a:r>
            <a:r>
              <a:rPr lang="en-US" sz="1200" b="0" i="0" u="none" strike="noStrike" cap="none">
                <a:solidFill>
                  <a:schemeClr val="dk1"/>
                </a:solidFill>
                <a:latin typeface="Calibri"/>
                <a:ea typeface="Calibri"/>
                <a:cs typeface="Calibri"/>
                <a:sym typeface="Calibri"/>
              </a:rPr>
              <a:t>MVC is not a Framework, it is a design pattern. </a:t>
            </a:r>
            <a:endParaRPr/>
          </a:p>
          <a:p>
            <a:pPr marL="0" lvl="0" indent="0" algn="l" rtl="0">
              <a:lnSpc>
                <a:spcPct val="100000"/>
              </a:lnSpc>
              <a:spcBef>
                <a:spcPts val="0"/>
              </a:spcBef>
              <a:spcAft>
                <a:spcPts val="0"/>
              </a:spcAft>
              <a:buSzPts val="1400"/>
              <a:buNone/>
            </a:pPr>
            <a:endParaRPr>
              <a:solidFill>
                <a:schemeClr val="dk2"/>
              </a:solidFill>
            </a:endParaRPr>
          </a:p>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What is A.S.P dot NET Core.Let's talk about A.S.P dot NET Core MVC..a lightweight, open-source, and highly testable presentation framework that plays a pivotal role in developing web applications..A.S.P dot NET Core MVC is lightweight, meaning it's designed to be fast and efficient without unnecessary complexities.. Being open source, it allows developers to dive into the source code, customize, and contribute to its ongoing development,The framework is highly testable, making it easier for developers to ensure the reliability and functionality of their code. MVC is a design pattern, and A.S.P dot NET MVC is a framework built upon this pattern to streamline web application development.In shortly A.S.P dot NET MVC is a robust framework for building dynamic, scalable, and cross-platform web applications. Its adherence to the MVC pattern and integration with A.S.P dot NET make it a compelling choice for developers. MVC is a design pattern, and A.S.P dot NET Core MVC is the framework that brings this pattern to life, offering developers a structured and efficient way to build web applications</a:t>
            </a: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to Set up MVC Application  in ASP.NET Core</a:t>
            </a:r>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Here, we're going to embark on a journey to create a web application using ASP.NET Core MVC. The first step is to ensure you have the necessary tools installed. You'll need Visual Studio. You can download them from the official Microsoft website. Open Visual Studio, select 'Create a new project,' and choose the ASP.NET Core Web App(Model-View-Controller) template. Once the project is created, let's take a look at the project structure. Notice the folders like 'Controllers,' 'Views,' and 'Models' – these align with the MVC pattern.</a:t>
            </a: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a:t>+COMPONENTS OF MVC</a:t>
            </a:r>
            <a:endParaRPr/>
          </a:p>
          <a:p>
            <a:pPr marL="0" lvl="0" indent="0" algn="l" rtl="0">
              <a:lnSpc>
                <a:spcPct val="100000"/>
              </a:lnSpc>
              <a:spcBef>
                <a:spcPts val="0"/>
              </a:spcBef>
              <a:spcAft>
                <a:spcPts val="0"/>
              </a:spcAft>
              <a:buSzPts val="1400"/>
              <a:buNone/>
            </a:pPr>
            <a:r>
              <a:rPr lang="en-US"/>
              <a:t>We are already discussed that </a:t>
            </a:r>
            <a:br>
              <a:rPr lang="en-US"/>
            </a:br>
            <a:r>
              <a:rPr lang="en-US" b="0" i="0">
                <a:solidFill>
                  <a:srgbClr val="374151"/>
                </a:solidFill>
                <a:latin typeface="Arial"/>
                <a:ea typeface="Arial"/>
                <a:cs typeface="Arial"/>
                <a:sym typeface="Arial"/>
              </a:rPr>
              <a:t>The MVC (Model-View-Controller) architectural pattern divides an application into three interconnected components to separate the concerns and provide a clean structure. Here are the key components of MVC</a:t>
            </a:r>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Model</a:t>
            </a:r>
            <a:endParaRPr/>
          </a:p>
          <a:p>
            <a:pPr marL="0" lvl="0" indent="0" algn="l" rtl="0">
              <a:lnSpc>
                <a:spcPct val="100000"/>
              </a:lnSpc>
              <a:spcBef>
                <a:spcPts val="0"/>
              </a:spcBef>
              <a:spcAft>
                <a:spcPts val="0"/>
              </a:spcAft>
              <a:buSzPts val="1400"/>
              <a:buNone/>
            </a:pPr>
            <a:br>
              <a:rPr lang="en-US"/>
            </a:br>
            <a:r>
              <a:rPr lang="en-US" b="0" i="0">
                <a:solidFill>
                  <a:srgbClr val="374151"/>
                </a:solidFill>
                <a:latin typeface="Arial"/>
                <a:ea typeface="Arial"/>
                <a:cs typeface="Arial"/>
                <a:sym typeface="Arial"/>
              </a:rPr>
              <a:t>The set of classes that describes the data and encapsulates the business logic in a software application is commonly referred to as the "Model"</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The Model represents the application's data and business logic.</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It is responsible for retrieving, storing, and processing data.</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Changes in the data trigger notifications to update the View.</a:t>
            </a:r>
            <a:endParaRPr/>
          </a:p>
          <a:p>
            <a:pPr marL="457200" lvl="0" indent="-228600" algn="l" rtl="0">
              <a:lnSpc>
                <a:spcPct val="100000"/>
              </a:lnSpc>
              <a:spcBef>
                <a:spcPts val="0"/>
              </a:spcBef>
              <a:spcAft>
                <a:spcPts val="0"/>
              </a:spcAft>
              <a:buSzPts val="1400"/>
              <a:buNone/>
            </a:pPr>
            <a:r>
              <a:rPr lang="en-US" b="1" i="0">
                <a:solidFill>
                  <a:srgbClr val="374151"/>
                </a:solidFill>
                <a:latin typeface="Arial"/>
                <a:ea typeface="Arial"/>
                <a:cs typeface="Arial"/>
                <a:sym typeface="Arial"/>
              </a:rPr>
              <a:t>View:</a:t>
            </a:r>
            <a:endParaRPr/>
          </a:p>
          <a:p>
            <a:pPr marL="457200" lvl="0" indent="-22860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The View is concerned with the visual representation of the data and the overall look and feel of the application.</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Presents data to the user.</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Receives data from the Model for display.</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Typically, multiple views can represent the same data differently.</a:t>
            </a:r>
            <a:endParaRPr/>
          </a:p>
          <a:p>
            <a:pPr marL="457200" lvl="0" indent="-228600" algn="l" rtl="0">
              <a:lnSpc>
                <a:spcPct val="100000"/>
              </a:lnSpc>
              <a:spcBef>
                <a:spcPts val="0"/>
              </a:spcBef>
              <a:spcAft>
                <a:spcPts val="0"/>
              </a:spcAft>
              <a:buSzPts val="1400"/>
              <a:buNone/>
            </a:pPr>
            <a:r>
              <a:rPr lang="en-US" b="1" i="0">
                <a:solidFill>
                  <a:srgbClr val="374151"/>
                </a:solidFill>
                <a:latin typeface="Arial"/>
                <a:ea typeface="Arial"/>
                <a:cs typeface="Arial"/>
                <a:sym typeface="Arial"/>
              </a:rPr>
              <a:t>Controller:</a:t>
            </a:r>
            <a:endParaRPr/>
          </a:p>
          <a:p>
            <a:pPr marL="457200" lvl="0" indent="-22860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It acts as an intermediary between the Model and the View, receiving user input from the View, processing it, and updating the Model and View accordingly</a:t>
            </a:r>
            <a:endParaRPr/>
          </a:p>
          <a:p>
            <a:pPr marL="228600" marR="0" lvl="0" indent="0" algn="l" rtl="0">
              <a:lnSpc>
                <a:spcPct val="100000"/>
              </a:lnSpc>
              <a:spcBef>
                <a:spcPts val="0"/>
              </a:spcBef>
              <a:spcAft>
                <a:spcPts val="0"/>
              </a:spcAft>
              <a:buClr>
                <a:srgbClr val="000000"/>
              </a:buClr>
              <a:buSzPts val="1400"/>
              <a:buFont typeface="Arial"/>
              <a:buNone/>
            </a:pPr>
            <a:r>
              <a:rPr lang="en-US" b="0" i="0">
                <a:solidFill>
                  <a:srgbClr val="374151"/>
                </a:solidFill>
                <a:latin typeface="Arial"/>
                <a:ea typeface="Arial"/>
                <a:cs typeface="Arial"/>
                <a:sym typeface="Arial"/>
              </a:rPr>
              <a:t>In detail we will discuss in coming slides</a:t>
            </a:r>
            <a:endParaRPr/>
          </a:p>
          <a:p>
            <a:pPr marL="228600" lvl="0" indent="0" algn="l" rtl="0">
              <a:lnSpc>
                <a:spcPct val="100000"/>
              </a:lnSpc>
              <a:spcBef>
                <a:spcPts val="0"/>
              </a:spcBef>
              <a:spcAft>
                <a:spcPts val="0"/>
              </a:spcAft>
              <a:buSzPts val="1400"/>
              <a:buFont typeface="Arial"/>
              <a:buNone/>
            </a:pPr>
            <a:endParaRPr b="0" i="0">
              <a:solidFill>
                <a:srgbClr val="374151"/>
              </a:solidFill>
              <a:latin typeface="Arial"/>
              <a:ea typeface="Arial"/>
              <a:cs typeface="Arial"/>
              <a:sym typeface="Arial"/>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Handles user input.</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Invokes actions in the Model based on user interactions.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Updates the View based on changes in the Model.</a:t>
            </a:r>
            <a:endParaRPr/>
          </a:p>
          <a:p>
            <a:pPr marL="228600" lvl="0" indent="0" algn="l" rtl="0">
              <a:lnSpc>
                <a:spcPct val="100000"/>
              </a:lnSpc>
              <a:spcBef>
                <a:spcPts val="0"/>
              </a:spcBef>
              <a:spcAft>
                <a:spcPts val="0"/>
              </a:spcAft>
              <a:buSzPts val="1400"/>
              <a:buFont typeface="Arial"/>
              <a:buNone/>
            </a:pPr>
            <a:endParaRPr b="0" i="0">
              <a:solidFill>
                <a:srgbClr val="374151"/>
              </a:solidFill>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Arial"/>
              <a:buChar char="•"/>
            </a:pPr>
            <a:r>
              <a:rPr lang="en-US" b="0" i="0">
                <a:solidFill>
                  <a:srgbClr val="374151"/>
                </a:solidFill>
                <a:latin typeface="Arial"/>
                <a:ea typeface="Arial"/>
                <a:cs typeface="Arial"/>
                <a:sym typeface="Arial"/>
              </a:rPr>
              <a:t>let's dive into the heart of our ASP.NET Core MVC application: the Models . These are the classes responsible for managing our application's data and state. In ASP.NET Core MVC, a Model is essentially a class, often with a '.cs' extension. This class encapsulates both properties and methods, serving as a blueprint for managing data in our application . Models play a crucial role in setting or getting data within our application.They act as containers for both the structure (properties) and behavior (methods) related to our data.</a:t>
            </a:r>
            <a:r>
              <a:rPr lang="en-US" b="1" i="0">
                <a:latin typeface="Arial"/>
                <a:ea typeface="Arial"/>
                <a:cs typeface="Arial"/>
                <a:sym typeface="Arial"/>
              </a:rPr>
              <a:t> Do We Always Need a Model?</a:t>
            </a:r>
            <a:r>
              <a:rPr lang="en-US" b="0" i="0">
                <a:solidFill>
                  <a:srgbClr val="374151"/>
                </a:solidFill>
                <a:latin typeface="Arial"/>
                <a:ea typeface="Arial"/>
                <a:cs typeface="Arial"/>
                <a:sym typeface="Arial"/>
              </a:rPr>
              <a:t> It's important to note that if our application doesn't involve data, there might not be a need for a model. Models are particularly valuable when dealing with entities or objects that have properties and behavior. Beyond data, Models are instrumental in managing the state of our application in memory.This means they keep track of changes, updates, and ensure that the application's data remains consistent across different parts of our application.</a:t>
            </a:r>
            <a:endParaRPr/>
          </a:p>
          <a:p>
            <a:pPr marL="0" lvl="0" indent="0" algn="l" rtl="0">
              <a:lnSpc>
                <a:spcPct val="100000"/>
              </a:lnSpc>
              <a:spcBef>
                <a:spcPts val="0"/>
              </a:spcBef>
              <a:spcAft>
                <a:spcPts val="0"/>
              </a:spcAft>
              <a:buSzPts val="1400"/>
              <a:buNone/>
            </a:pPr>
            <a:endParaRPr b="0" i="0">
              <a:solidFill>
                <a:srgbClr val="374151"/>
              </a:solidFill>
              <a:latin typeface="Arial"/>
              <a:ea typeface="Arial"/>
              <a:cs typeface="Arial"/>
              <a:sym typeface="Arial"/>
            </a:endParaRPr>
          </a:p>
          <a:p>
            <a:pPr marL="0" lvl="0" indent="0" algn="l" rtl="0">
              <a:lnSpc>
                <a:spcPct val="100000"/>
              </a:lnSpc>
              <a:spcBef>
                <a:spcPts val="0"/>
              </a:spcBef>
              <a:spcAft>
                <a:spcPts val="0"/>
              </a:spcAft>
              <a:buSzPts val="1400"/>
              <a:buNone/>
            </a:pPr>
            <a:endParaRPr b="0" i="0">
              <a:solidFill>
                <a:srgbClr val="374151"/>
              </a:solidFill>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45" name="Google Shape;14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Here is the example of Model</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dirty="0"/>
              <a:t>The Model Name is Job…Id,Tiitle,Description,Location,Salary,Type,Company,Capacity,Applied are attributes.</a:t>
            </a:r>
            <a:r>
              <a:rPr lang="en-US" b="0" i="0" dirty="0">
                <a:solidFill>
                  <a:srgbClr val="374151"/>
                </a:solidFill>
                <a:latin typeface="Arial"/>
                <a:ea typeface="Arial"/>
                <a:cs typeface="Arial"/>
                <a:sym typeface="Arial"/>
              </a:rPr>
              <a:t> Each of these lines defines a property within a class, and each property represents an attribute of a job posting. These properties provide controlled access to the attributes, allowing other parts of the program to read and modify them as needed.</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153" name="Google Shape;15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solidFill>
                  <a:schemeClr val="dk2"/>
                </a:solidFill>
              </a:rPr>
              <a:t>ASP.NET Core Dependency Injection</a:t>
            </a:r>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SP.NET Core Dependency Injection (DI) is a built-in feature that allows you to implement inversion of control (IoC) in your applications. In simpler terms, it helps manage the dependencies between various components of your application.</a:t>
            </a:r>
            <a:endParaRPr b="0" i="0">
              <a:solidFill>
                <a:schemeClr val="dk2"/>
              </a:solidFill>
              <a:latin typeface="Arial"/>
              <a:ea typeface="Arial"/>
              <a:cs typeface="Arial"/>
              <a:sym typeface="Arial"/>
            </a:endParaRPr>
          </a:p>
          <a:p>
            <a:pPr marL="0" lvl="0" indent="0" algn="l" rtl="0">
              <a:lnSpc>
                <a:spcPct val="100000"/>
              </a:lnSpc>
              <a:spcBef>
                <a:spcPts val="0"/>
              </a:spcBef>
              <a:spcAft>
                <a:spcPts val="0"/>
              </a:spcAft>
              <a:buSzPts val="1400"/>
              <a:buNone/>
            </a:pPr>
            <a:br>
              <a:rPr lang="en-US"/>
            </a:br>
            <a:r>
              <a:rPr lang="en-US" b="0" i="0">
                <a:solidFill>
                  <a:srgbClr val="374151"/>
                </a:solidFill>
                <a:latin typeface="Arial"/>
                <a:ea typeface="Arial"/>
                <a:cs typeface="Arial"/>
                <a:sym typeface="Arial"/>
              </a:rPr>
              <a:t>The process of injecting an object of a class into another class that depends on it is called Dependency Injection (DI). In DI, the dependent class doesn't create instances of its dependencies itself; instead, it receives them from an external source, typically a Dependency Injection container.</a:t>
            </a:r>
            <a:endParaRPr/>
          </a:p>
          <a:p>
            <a:pPr marL="0" lvl="0" indent="0" algn="l" rtl="0">
              <a:lnSpc>
                <a:spcPct val="100000"/>
              </a:lnSpc>
              <a:spcBef>
                <a:spcPts val="0"/>
              </a:spcBef>
              <a:spcAft>
                <a:spcPts val="0"/>
              </a:spcAft>
              <a:buSzPts val="1400"/>
              <a:buNone/>
            </a:pPr>
            <a:br>
              <a:rPr lang="en-US"/>
            </a:br>
            <a:r>
              <a:rPr lang="en-US" b="0" i="0">
                <a:solidFill>
                  <a:srgbClr val="374151"/>
                </a:solidFill>
                <a:latin typeface="Arial"/>
                <a:ea typeface="Arial"/>
                <a:cs typeface="Arial"/>
                <a:sym typeface="Arial"/>
              </a:rPr>
              <a:t>Absolutely, you're spot on! Dependency Injection (DI) is indeed one of the most commonly used design patterns in modern software development, especially in frameworks like ASP.NET Core, Spring Framework for Java, and many others. It's a fundamental principle of building loosely coupled and highly maintainable software components.</a:t>
            </a:r>
            <a:endParaRPr/>
          </a:p>
          <a:p>
            <a:pPr marL="0" lvl="0" indent="0" algn="l" rtl="0">
              <a:lnSpc>
                <a:spcPct val="100000"/>
              </a:lnSpc>
              <a:spcBef>
                <a:spcPts val="0"/>
              </a:spcBef>
              <a:spcAft>
                <a:spcPts val="0"/>
              </a:spcAft>
              <a:buSzPts val="1400"/>
              <a:buNone/>
            </a:pPr>
            <a:endParaRPr/>
          </a:p>
        </p:txBody>
      </p:sp>
      <p:sp>
        <p:nvSpPr>
          <p:cNvPr id="161" name="Google Shape;16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In ASP.NET Core, services can be categorized into two main types: application services and framework services</a:t>
            </a:r>
            <a:endParaRPr/>
          </a:p>
          <a:p>
            <a:pPr marL="0" lvl="0" indent="0" algn="l" rtl="0">
              <a:lnSpc>
                <a:spcPct val="100000"/>
              </a:lnSpc>
              <a:spcBef>
                <a:spcPts val="0"/>
              </a:spcBef>
              <a:spcAft>
                <a:spcPts val="0"/>
              </a:spcAft>
              <a:buSzPts val="1400"/>
              <a:buNone/>
            </a:pPr>
            <a:r>
              <a:rPr lang="en-US" b="1" i="0">
                <a:latin typeface="Arial"/>
                <a:ea typeface="Arial"/>
                <a:cs typeface="Arial"/>
                <a:sym typeface="Arial"/>
              </a:rPr>
              <a:t>Framework Services</a:t>
            </a:r>
            <a:r>
              <a:rPr lang="en-US" b="0" i="0">
                <a:solidFill>
                  <a:srgbClr val="374151"/>
                </a:solidFill>
                <a:latin typeface="Arial"/>
                <a:ea typeface="Arial"/>
                <a:cs typeface="Arial"/>
                <a:sym typeface="Arial"/>
              </a:rPr>
              <a:t>:</a:t>
            </a:r>
            <a:endParaRPr b="0" i="0">
              <a:solidFill>
                <a:srgbClr val="374151"/>
              </a:solidFill>
              <a:latin typeface="Arial"/>
              <a:ea typeface="Arial"/>
              <a:cs typeface="Arial"/>
              <a:sym typeface="Arial"/>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Framework services are built-in services provided by the ASP.NET Core framework to support common infrastructure and functionality required for web applications. These services are provided by ASP.NET Core itself or by third-party libraries and packages that are commonly used in ASP.NET Core applications.</a:t>
            </a:r>
            <a:endParaRPr/>
          </a:p>
          <a:p>
            <a:pPr marL="0" lvl="0" indent="0" algn="l" rtl="0">
              <a:lnSpc>
                <a:spcPct val="100000"/>
              </a:lnSpc>
              <a:spcBef>
                <a:spcPts val="0"/>
              </a:spcBef>
              <a:spcAft>
                <a:spcPts val="0"/>
              </a:spcAft>
              <a:buSzPts val="1400"/>
              <a:buNone/>
            </a:pPr>
            <a:r>
              <a:rPr lang="en-US" b="1" i="0">
                <a:latin typeface="Arial"/>
                <a:ea typeface="Arial"/>
                <a:cs typeface="Arial"/>
                <a:sym typeface="Arial"/>
              </a:rPr>
              <a:t>Application Services</a:t>
            </a:r>
            <a:r>
              <a:rPr lang="en-US" b="0" i="0">
                <a:solidFill>
                  <a:srgbClr val="374151"/>
                </a:solidFill>
                <a:latin typeface="Arial"/>
                <a:ea typeface="Arial"/>
                <a:cs typeface="Arial"/>
                <a:sym typeface="Arial"/>
              </a:rPr>
              <a:t>:</a:t>
            </a:r>
            <a:endParaRPr b="0" i="0">
              <a:solidFill>
                <a:srgbClr val="374151"/>
              </a:solidFill>
              <a:latin typeface="Arial"/>
              <a:ea typeface="Arial"/>
              <a:cs typeface="Arial"/>
              <a:sym typeface="Arial"/>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Application services are the services that you create or define within your application to support its specific functionality and requirements. Application services are registered with the dependency injection (DI) container during application startup and are used throughout your application to implement its features.</a:t>
            </a:r>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In traditional programming, you directly instantiate objects and manage their lifecycles throughout your application. For example, if a class needs to use another class, it typically creates an instance of that class itself using the </a:t>
            </a:r>
            <a:r>
              <a:rPr lang="en-US"/>
              <a:t>new</a:t>
            </a:r>
            <a:r>
              <a:rPr lang="en-US" b="0" i="0">
                <a:solidFill>
                  <a:srgbClr val="374151"/>
                </a:solidFill>
                <a:latin typeface="Arial"/>
                <a:ea typeface="Arial"/>
                <a:cs typeface="Arial"/>
                <a:sym typeface="Arial"/>
              </a:rPr>
              <a:t> keyword.</a:t>
            </a:r>
            <a:endParaRPr/>
          </a:p>
          <a:p>
            <a:pPr marL="0" lvl="0" indent="0" algn="l" rtl="0">
              <a:lnSpc>
                <a:spcPct val="100000"/>
              </a:lnSpc>
              <a:spcBef>
                <a:spcPts val="0"/>
              </a:spcBef>
              <a:spcAft>
                <a:spcPts val="0"/>
              </a:spcAft>
              <a:buSzPts val="1400"/>
              <a:buNone/>
            </a:pPr>
            <a:r>
              <a:rPr lang="en-US" b="1" i="0">
                <a:latin typeface="Arial"/>
                <a:ea typeface="Arial"/>
                <a:cs typeface="Arial"/>
                <a:sym typeface="Arial"/>
              </a:rPr>
              <a:t> Inversion of Control (IoC)</a:t>
            </a:r>
            <a:r>
              <a:rPr lang="en-US" b="0" i="0">
                <a:solidFill>
                  <a:srgbClr val="374151"/>
                </a:solidFill>
                <a:latin typeface="Arial"/>
                <a:ea typeface="Arial"/>
                <a:cs typeface="Arial"/>
                <a:sym typeface="Arial"/>
              </a:rPr>
              <a:t>: With IoC, this control is inverted. Instead of classes directly creating instances of their dependencies, they rely on an external entity (such as a DI container) to provide those dependencies. This external entity is responsible for managing the instantiation, lifetime, and configuration of objects.</a:t>
            </a:r>
            <a:endParaRPr/>
          </a:p>
          <a:p>
            <a:pPr marL="0" lvl="0" indent="0" algn="l" rtl="0">
              <a:lnSpc>
                <a:spcPct val="100000"/>
              </a:lnSpc>
              <a:spcBef>
                <a:spcPts val="0"/>
              </a:spcBef>
              <a:spcAft>
                <a:spcPts val="0"/>
              </a:spcAft>
              <a:buSzPts val="1400"/>
              <a:buNone/>
            </a:pPr>
            <a:r>
              <a:rPr lang="en-US" b="1" i="0">
                <a:latin typeface="Arial"/>
                <a:ea typeface="Arial"/>
                <a:cs typeface="Arial"/>
                <a:sym typeface="Arial"/>
              </a:rPr>
              <a:t>Dependency Injection (DI)</a:t>
            </a:r>
            <a:r>
              <a:rPr lang="en-US" b="0" i="0">
                <a:solidFill>
                  <a:srgbClr val="374151"/>
                </a:solidFill>
                <a:latin typeface="Arial"/>
                <a:ea typeface="Arial"/>
                <a:cs typeface="Arial"/>
                <a:sym typeface="Arial"/>
              </a:rPr>
              <a:t>: DI is a specific implementation of IoC. It involves injecting dependencies into a class rather than having the class create them itself. This makes classes more modular, reusable, and easier to test.</a:t>
            </a:r>
            <a:endParaRPr/>
          </a:p>
          <a:p>
            <a:pPr marL="0" lvl="0" indent="0" algn="l" rtl="0">
              <a:lnSpc>
                <a:spcPct val="100000"/>
              </a:lnSpc>
              <a:spcBef>
                <a:spcPts val="0"/>
              </a:spcBef>
              <a:spcAft>
                <a:spcPts val="0"/>
              </a:spcAft>
              <a:buSzPts val="1400"/>
              <a:buNone/>
            </a:pPr>
            <a:endParaRPr b="0" i="0">
              <a:solidFill>
                <a:srgbClr val="374151"/>
              </a:solidFill>
              <a:latin typeface="Arial"/>
              <a:ea typeface="Arial"/>
              <a:cs typeface="Arial"/>
              <a:sym typeface="Arial"/>
            </a:endParaRPr>
          </a:p>
        </p:txBody>
      </p:sp>
      <p:sp>
        <p:nvSpPr>
          <p:cNvPr id="172" name="Google Shape;1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solidFill>
                  <a:schemeClr val="dk2"/>
                </a:solidFill>
              </a:rPr>
              <a:t>How to register a Service with ASP.NET Core Dependency Injection Container?</a:t>
            </a:r>
            <a:endParaRPr b="0" i="0">
              <a:solidFill>
                <a:srgbClr val="374151"/>
              </a:solidFill>
              <a:latin typeface="Arial"/>
              <a:ea typeface="Arial"/>
              <a:cs typeface="Arial"/>
              <a:sym typeface="Arial"/>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Absolutely! Registering a service with the ASP.NET Core Dependency Injection (DI) container is typically done within the </a:t>
            </a:r>
            <a:r>
              <a:rPr lang="en-US"/>
              <a:t>ConfigureServices()</a:t>
            </a:r>
            <a:r>
              <a:rPr lang="en-US" b="0" i="0">
                <a:solidFill>
                  <a:srgbClr val="374151"/>
                </a:solidFill>
                <a:latin typeface="Arial"/>
                <a:ea typeface="Arial"/>
                <a:cs typeface="Arial"/>
                <a:sym typeface="Arial"/>
              </a:rPr>
              <a:t> method of the </a:t>
            </a:r>
            <a:r>
              <a:rPr lang="en-US"/>
              <a:t>Startup</a:t>
            </a:r>
            <a:r>
              <a:rPr lang="en-US" b="0" i="0">
                <a:solidFill>
                  <a:srgbClr val="374151"/>
                </a:solidFill>
                <a:latin typeface="Arial"/>
                <a:ea typeface="Arial"/>
                <a:cs typeface="Arial"/>
                <a:sym typeface="Arial"/>
              </a:rPr>
              <a:t> class. This method is called during application startup and is responsible for configuring services for the DI container.</a:t>
            </a:r>
            <a:endParaRPr/>
          </a:p>
        </p:txBody>
      </p:sp>
      <p:sp>
        <p:nvSpPr>
          <p:cNvPr id="181" name="Google Shape;18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Controller</a:t>
            </a:r>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Controllers typically reside within the </a:t>
            </a:r>
            <a:r>
              <a:rPr lang="en-US"/>
              <a:t>Controllers</a:t>
            </a:r>
            <a:r>
              <a:rPr lang="en-US" b="0" i="0">
                <a:solidFill>
                  <a:srgbClr val="374151"/>
                </a:solidFill>
                <a:latin typeface="Arial"/>
                <a:ea typeface="Arial"/>
                <a:cs typeface="Arial"/>
                <a:sym typeface="Arial"/>
              </a:rPr>
              <a:t> folder of your ASP.NET Core project. Controllers inherit from the </a:t>
            </a:r>
            <a:r>
              <a:rPr lang="en-US"/>
              <a:t>Controller</a:t>
            </a:r>
            <a:r>
              <a:rPr lang="en-US" b="0" i="0">
                <a:solidFill>
                  <a:srgbClr val="374151"/>
                </a:solidFill>
                <a:latin typeface="Arial"/>
                <a:ea typeface="Arial"/>
                <a:cs typeface="Arial"/>
                <a:sym typeface="Arial"/>
              </a:rPr>
              <a:t> or </a:t>
            </a:r>
            <a:r>
              <a:rPr lang="en-US"/>
              <a:t>ControllerBase</a:t>
            </a:r>
            <a:r>
              <a:rPr lang="en-US" b="0" i="0">
                <a:solidFill>
                  <a:srgbClr val="374151"/>
                </a:solidFill>
                <a:latin typeface="Arial"/>
                <a:ea typeface="Arial"/>
                <a:cs typeface="Arial"/>
                <a:sym typeface="Arial"/>
              </a:rPr>
              <a:t> class provided by ASP.NET Core.</a:t>
            </a:r>
            <a:endParaRPr/>
          </a:p>
          <a:p>
            <a:pPr marL="0" lvl="0" indent="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Certainly! In ASP.NET Core, controllers are responsible for handling incoming HTTP requests, processing the requests, and generating appropriate responses. Controllers is a class typically contain action methods that correspond to different HTTP endpoints, such as routes defined in the application. Action methods within controllers handle specific HTTP requests. </a:t>
            </a:r>
            <a:endParaRPr/>
          </a:p>
        </p:txBody>
      </p:sp>
      <p:sp>
        <p:nvSpPr>
          <p:cNvPr id="196" name="Google Shape;1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4 nmain things under Controller is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Action Methods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Action methods within controllers handle specific HTTP requests.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Each action method corresponds to a particular HTTP verb (e.g., GET, POST) and route.</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Action methods return an ActionResult or one of its derived types to generate an HTTP response.</a:t>
            </a:r>
            <a:endParaRPr/>
          </a:p>
          <a:p>
            <a:pPr marL="457200" marR="0" lvl="0" indent="-228600" algn="l" rtl="0">
              <a:lnSpc>
                <a:spcPct val="100000"/>
              </a:lnSpc>
              <a:spcBef>
                <a:spcPts val="0"/>
              </a:spcBef>
              <a:spcAft>
                <a:spcPts val="0"/>
              </a:spcAft>
              <a:buSzPts val="1400"/>
              <a:buNone/>
            </a:pPr>
            <a:r>
              <a:rPr lang="en-US" b="1"/>
              <a:t>Routing</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ASP.NET Core uses routing to map incoming requests to the appropriate controller and action method.</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Routes are typically configured in the Startup class using the UseEndpoints method.</a:t>
            </a:r>
            <a:endParaRPr/>
          </a:p>
          <a:p>
            <a:pPr marL="457200" marR="0" lvl="0" indent="-228600" algn="l" rtl="0">
              <a:lnSpc>
                <a:spcPct val="100000"/>
              </a:lnSpc>
              <a:spcBef>
                <a:spcPts val="0"/>
              </a:spcBef>
              <a:spcAft>
                <a:spcPts val="0"/>
              </a:spcAft>
              <a:buSzPts val="1400"/>
              <a:buNone/>
            </a:pPr>
            <a:r>
              <a:rPr lang="en-US" sz="1200" b="1">
                <a:solidFill>
                  <a:schemeClr val="lt1"/>
                </a:solidFill>
                <a:latin typeface="Calibri"/>
                <a:ea typeface="Calibri"/>
                <a:cs typeface="Calibri"/>
                <a:sym typeface="Calibri"/>
              </a:rPr>
              <a:t>Attributes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Attributes are used to decorate action methods and define additional metadata such as route templates, HTTP verbs, and action filters.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Commonly used attributes include [HttpGet], [HttpPost], [Route], [Authorize], etc.</a:t>
            </a:r>
            <a:endParaRPr/>
          </a:p>
          <a:p>
            <a:pPr marL="457200" lvl="0" indent="-228600" algn="l" rtl="0">
              <a:lnSpc>
                <a:spcPct val="100000"/>
              </a:lnSpc>
              <a:spcBef>
                <a:spcPts val="0"/>
              </a:spcBef>
              <a:spcAft>
                <a:spcPts val="0"/>
              </a:spcAft>
              <a:buSzPts val="1400"/>
              <a:buNone/>
            </a:pPr>
            <a:r>
              <a:rPr lang="en-US" b="1" i="0">
                <a:solidFill>
                  <a:srgbClr val="374151"/>
                </a:solidFill>
                <a:latin typeface="Arial"/>
                <a:ea typeface="Arial"/>
                <a:cs typeface="Arial"/>
                <a:sym typeface="Arial"/>
              </a:rPr>
              <a:t>ActionResult</a:t>
            </a:r>
            <a:endParaRPr b="0" i="0">
              <a:solidFill>
                <a:srgbClr val="374151"/>
              </a:solidFill>
              <a:latin typeface="Arial"/>
              <a:ea typeface="Arial"/>
              <a:cs typeface="Arial"/>
              <a:sym typeface="Arial"/>
            </a:endParaRPr>
          </a:p>
          <a:p>
            <a:pPr marL="457200" lvl="0" indent="-22860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Action methods return an ActionResult or its derived types to generate responses.</a:t>
            </a:r>
            <a:endParaRPr/>
          </a:p>
          <a:p>
            <a:pPr marL="228600" lvl="0" indent="0" algn="l" rtl="0">
              <a:lnSpc>
                <a:spcPct val="100000"/>
              </a:lnSpc>
              <a:spcBef>
                <a:spcPts val="0"/>
              </a:spcBef>
              <a:spcAft>
                <a:spcPts val="0"/>
              </a:spcAft>
              <a:buSzPts val="1400"/>
              <a:buFont typeface="Arial"/>
              <a:buNone/>
            </a:pPr>
            <a:r>
              <a:rPr lang="en-US" b="0" i="0">
                <a:solidFill>
                  <a:srgbClr val="374151"/>
                </a:solidFill>
                <a:latin typeface="Arial"/>
                <a:ea typeface="Arial"/>
                <a:cs typeface="Arial"/>
                <a:sym typeface="Arial"/>
              </a:rPr>
              <a:t>ActionResult represents the result of an action method execution, which can be a view, a redirect, a JSON object, or any other HTTP response.</a:t>
            </a:r>
            <a:endParaRPr/>
          </a:p>
          <a:p>
            <a:pPr marL="228600" lvl="0" indent="0" algn="l" rtl="0">
              <a:lnSpc>
                <a:spcPct val="100000"/>
              </a:lnSpc>
              <a:spcBef>
                <a:spcPts val="0"/>
              </a:spcBef>
              <a:spcAft>
                <a:spcPts val="0"/>
              </a:spcAft>
              <a:buSzPts val="1400"/>
              <a:buFont typeface="Arial"/>
              <a:buNone/>
            </a:pPr>
            <a:endParaRPr b="0" i="0">
              <a:solidFill>
                <a:srgbClr val="374151"/>
              </a:solidFill>
              <a:latin typeface="Arial"/>
              <a:ea typeface="Arial"/>
              <a:cs typeface="Arial"/>
              <a:sym typeface="Arial"/>
            </a:endParaRPr>
          </a:p>
          <a:p>
            <a:pPr marL="457200" marR="0" lvl="0" indent="-228600" algn="l" rtl="0">
              <a:lnSpc>
                <a:spcPct val="100000"/>
              </a:lnSpc>
              <a:spcBef>
                <a:spcPts val="0"/>
              </a:spcBef>
              <a:spcAft>
                <a:spcPts val="0"/>
              </a:spcAft>
              <a:buSzPts val="1400"/>
              <a:buNone/>
            </a:pPr>
            <a:endParaRPr/>
          </a:p>
        </p:txBody>
      </p:sp>
      <p:sp>
        <p:nvSpPr>
          <p:cNvPr id="211" name="Google Shape;21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Workflow in Controller is like this</a:t>
            </a:r>
            <a:endParaRPr/>
          </a:p>
          <a:p>
            <a:pPr marL="457200" lvl="0" indent="-228600" algn="l" rtl="0">
              <a:lnSpc>
                <a:spcPct val="100000"/>
              </a:lnSpc>
              <a:spcBef>
                <a:spcPts val="0"/>
              </a:spcBef>
              <a:spcAft>
                <a:spcPts val="0"/>
              </a:spcAft>
              <a:buSzPts val="1400"/>
              <a:buNone/>
            </a:pPr>
            <a:r>
              <a:rPr lang="en-US" b="0" i="0">
                <a:solidFill>
                  <a:srgbClr val="374151"/>
                </a:solidFill>
                <a:latin typeface="Arial"/>
                <a:ea typeface="Arial"/>
                <a:cs typeface="Arial"/>
                <a:sym typeface="Arial"/>
              </a:rPr>
              <a:t>When a client, such as a browser, sends a request to the server, it first traverses through the request processing pipeline. This pipeline consists of a series of middleware components configured in the application's startup class.Once the request passes through the request processing pipeline, it reaches the controller. Inside the controller, there are various action methods, each designed to handle a specific type of incoming HTTP request. These action methods are responsible for executing the business logic associated with the request and preparing the response to be sent back to the client.The controller's action method processes the request by interacting with services, repositories, and other components as needed. It may perform tasks such as querying a database, validating user input, or invoking external APIs.Once the action method has completed its execution, it returns an instance of IActionResult or one of its derived types. This result represents the response to be sent back to the client.Finally, the response is returned to the client, completing the request-response cycle. The client receives the response and processes it accordingly, whether it's rendering a web page, displaying data, or handling errors.</a:t>
            </a:r>
            <a:endParaRPr/>
          </a:p>
          <a:p>
            <a:pPr marL="0" lvl="0" indent="0" algn="l" rtl="0">
              <a:lnSpc>
                <a:spcPct val="100000"/>
              </a:lnSpc>
              <a:spcBef>
                <a:spcPts val="0"/>
              </a:spcBef>
              <a:spcAft>
                <a:spcPts val="0"/>
              </a:spcAft>
              <a:buSzPts val="1400"/>
              <a:buNone/>
            </a:pPr>
            <a:endParaRPr/>
          </a:p>
        </p:txBody>
      </p:sp>
      <p:sp>
        <p:nvSpPr>
          <p:cNvPr id="223" name="Google Shape;2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What are Action Methods?</a:t>
            </a:r>
            <a:br>
              <a:rPr lang="en-US"/>
            </a:br>
            <a:r>
              <a:rPr lang="en-US" b="0" i="0">
                <a:solidFill>
                  <a:srgbClr val="374151"/>
                </a:solidFill>
                <a:latin typeface="Arial"/>
                <a:ea typeface="Arial"/>
                <a:cs typeface="Arial"/>
                <a:sym typeface="Arial"/>
              </a:rPr>
              <a:t>Action methods are public methods defined within controllers in ASP.NET Core applications that handle incoming HTTP requests. These methods contain the logic to process the request, perform necessary operations, and prepare the response to be sent back to the client. Absolutely, action methods in ASP.NET Core can return various types of results, depending on the requirements of the application and the nature of the HTTP request being handled. Here are some common types that action methods can returns are </a:t>
            </a:r>
            <a:r>
              <a:rPr lang="en-US" b="0" i="0">
                <a:latin typeface="Arial"/>
                <a:ea typeface="Arial"/>
                <a:cs typeface="Arial"/>
                <a:sym typeface="Arial"/>
              </a:rPr>
              <a:t>ViewResult, RedirectResult, JsonResult, ContentResult</a:t>
            </a:r>
            <a:r>
              <a:rPr lang="en-US" b="0" i="0">
                <a:solidFill>
                  <a:srgbClr val="374151"/>
                </a:solidFill>
                <a:latin typeface="Arial"/>
                <a:ea typeface="Arial"/>
                <a:cs typeface="Arial"/>
                <a:sym typeface="Arial"/>
              </a:rPr>
              <a:t>,</a:t>
            </a:r>
            <a:r>
              <a:rPr lang="en-US" b="0" i="0">
                <a:latin typeface="Arial"/>
                <a:ea typeface="Arial"/>
                <a:cs typeface="Arial"/>
                <a:sym typeface="Arial"/>
              </a:rPr>
              <a:t>FileResult</a:t>
            </a:r>
            <a:r>
              <a:rPr lang="en-US" b="0" i="0">
                <a:solidFill>
                  <a:srgbClr val="374151"/>
                </a:solidFill>
                <a:latin typeface="Arial"/>
                <a:ea typeface="Arial"/>
                <a:cs typeface="Arial"/>
                <a:sym typeface="Arial"/>
              </a:rPr>
              <a:t>,</a:t>
            </a:r>
            <a:r>
              <a:rPr lang="en-US" b="0" i="0">
                <a:latin typeface="Arial"/>
                <a:ea typeface="Arial"/>
                <a:cs typeface="Arial"/>
                <a:sym typeface="Arial"/>
              </a:rPr>
              <a:t> StatusCodeResult</a:t>
            </a:r>
            <a:r>
              <a:rPr lang="en-US" b="0" i="0">
                <a:solidFill>
                  <a:srgbClr val="374151"/>
                </a:solidFill>
                <a:latin typeface="Arial"/>
                <a:ea typeface="Arial"/>
                <a:cs typeface="Arial"/>
                <a:sym typeface="Arial"/>
              </a:rPr>
              <a:t>,</a:t>
            </a:r>
            <a:r>
              <a:rPr lang="en-US" b="0" i="0">
                <a:latin typeface="Arial"/>
                <a:ea typeface="Arial"/>
                <a:cs typeface="Arial"/>
                <a:sym typeface="Arial"/>
              </a:rPr>
              <a:t> ActionResult.</a:t>
            </a:r>
            <a:r>
              <a:rPr lang="en-US" b="0" i="0">
                <a:solidFill>
                  <a:srgbClr val="374151"/>
                </a:solidFill>
                <a:latin typeface="Arial"/>
                <a:ea typeface="Arial"/>
                <a:cs typeface="Arial"/>
                <a:sym typeface="Arial"/>
              </a:rPr>
              <a:t> when an HTTP request is made to the server, it is typically routed to a specific controller and action method based on the request URL. The default routing convention in ASP.NET Core follows the structure,here the example </a:t>
            </a:r>
            <a:r>
              <a:rPr lang="en-US" b="1" i="0">
                <a:solidFill>
                  <a:srgbClr val="0D0D0D"/>
                </a:solidFill>
                <a:latin typeface="Arial"/>
                <a:ea typeface="Arial"/>
                <a:cs typeface="Arial"/>
                <a:sym typeface="Arial"/>
              </a:rPr>
              <a:t>http://domain.com/Home/Index</a:t>
            </a:r>
            <a:r>
              <a:rPr lang="en-US" b="0" i="0">
                <a:solidFill>
                  <a:srgbClr val="374151"/>
                </a:solidFill>
                <a:latin typeface="Arial"/>
                <a:ea typeface="Arial"/>
                <a:cs typeface="Arial"/>
                <a:sym typeface="Arial"/>
              </a:rPr>
              <a:t> </a:t>
            </a:r>
            <a:r>
              <a:rPr lang="en-US" b="0" i="0">
                <a:solidFill>
                  <a:srgbClr val="0D0D0D"/>
                </a:solidFill>
                <a:latin typeface="Arial"/>
                <a:ea typeface="Arial"/>
                <a:cs typeface="Arial"/>
                <a:sym typeface="Arial"/>
              </a:rPr>
              <a:t> would route to the </a:t>
            </a:r>
            <a:r>
              <a:rPr lang="en-US"/>
              <a:t>Index</a:t>
            </a:r>
            <a:r>
              <a:rPr lang="en-US" b="0" i="0">
                <a:solidFill>
                  <a:srgbClr val="0D0D0D"/>
                </a:solidFill>
                <a:latin typeface="Arial"/>
                <a:ea typeface="Arial"/>
                <a:cs typeface="Arial"/>
                <a:sym typeface="Arial"/>
              </a:rPr>
              <a:t> action method of the </a:t>
            </a:r>
            <a:r>
              <a:rPr lang="en-US"/>
              <a:t>HomeController</a:t>
            </a:r>
            <a:endParaRPr b="0" i="0">
              <a:solidFill>
                <a:srgbClr val="374151"/>
              </a:solidFill>
              <a:latin typeface="Arial"/>
              <a:ea typeface="Arial"/>
              <a:cs typeface="Arial"/>
              <a:sym typeface="Arial"/>
            </a:endParaRPr>
          </a:p>
        </p:txBody>
      </p:sp>
      <p:sp>
        <p:nvSpPr>
          <p:cNvPr id="232" name="Google Shape;23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solidFill>
                  <a:schemeClr val="dk2"/>
                </a:solidFill>
              </a:rPr>
              <a:t>Views in ASP.NET Core MVC</a:t>
            </a:r>
            <a:endParaRPr/>
          </a:p>
          <a:p>
            <a:pPr marL="0" marR="0" lvl="0" indent="0" algn="l" rtl="0">
              <a:lnSpc>
                <a:spcPct val="100000"/>
              </a:lnSpc>
              <a:spcBef>
                <a:spcPts val="0"/>
              </a:spcBef>
              <a:spcAft>
                <a:spcPts val="0"/>
              </a:spcAft>
              <a:buClr>
                <a:srgbClr val="000000"/>
              </a:buClr>
              <a:buSzPts val="1400"/>
              <a:buFont typeface="Arial"/>
              <a:buNone/>
            </a:pPr>
            <a:br>
              <a:rPr lang="en-US"/>
            </a:br>
            <a:r>
              <a:rPr lang="en-US" b="0" i="0">
                <a:solidFill>
                  <a:srgbClr val="0D0D0D"/>
                </a:solidFill>
                <a:latin typeface="Arial"/>
                <a:ea typeface="Arial"/>
                <a:cs typeface="Arial"/>
                <a:sym typeface="Arial"/>
              </a:rPr>
              <a:t>In ASP.NET Core, views are an integral part of the MVC pattern that is presentation layer and are responsible for rendering the HTML markup that is returned to the client's browser. They are responsible for displaying the user interface and presenting data to the user.Views typically contain a mixture of HTML markup and embedded code that is used to dynamically generate the content based on the data passed to them from the controller.Views are typically stored as template files with the </a:t>
            </a:r>
            <a:r>
              <a:rPr lang="en-US"/>
              <a:t>.cshtml</a:t>
            </a:r>
            <a:r>
              <a:rPr lang="en-US" b="0" i="0">
                <a:solidFill>
                  <a:srgbClr val="0D0D0D"/>
                </a:solidFill>
                <a:latin typeface="Arial"/>
                <a:ea typeface="Arial"/>
                <a:cs typeface="Arial"/>
                <a:sym typeface="Arial"/>
              </a:rPr>
              <a:t> extension. These files can contain HTML markup as well as embedded C# code using Razor syntax. They do not contain business logic or data manipulation code; instead, they interact with the model provided by the controller to display data to the user in a meaningful way. Views can also include layout files to provide a consistent look and feel across multiple pages.</a:t>
            </a:r>
            <a:endParaRPr/>
          </a:p>
        </p:txBody>
      </p:sp>
      <p:sp>
        <p:nvSpPr>
          <p:cNvPr id="245" name="Google Shape;24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0" i="0">
                <a:solidFill>
                  <a:schemeClr val="lt1"/>
                </a:solidFill>
                <a:latin typeface="Calibri"/>
                <a:ea typeface="Calibri"/>
                <a:cs typeface="Calibri"/>
                <a:sym typeface="Calibri"/>
              </a:rPr>
              <a:t>View Templates</a:t>
            </a:r>
            <a:endParaRPr/>
          </a:p>
          <a:p>
            <a:pPr marL="0" marR="0" lvl="0" indent="0" algn="l" rtl="0">
              <a:lnSpc>
                <a:spcPct val="100000"/>
              </a:lnSpc>
              <a:spcBef>
                <a:spcPts val="0"/>
              </a:spcBef>
              <a:spcAft>
                <a:spcPts val="0"/>
              </a:spcAft>
              <a:buClr>
                <a:srgbClr val="000000"/>
              </a:buClr>
              <a:buSzPts val="1400"/>
              <a:buFont typeface="Arial"/>
              <a:buNone/>
            </a:pPr>
            <a:r>
              <a:rPr lang="en-US" b="0" i="0">
                <a:solidFill>
                  <a:srgbClr val="0D0D0D"/>
                </a:solidFill>
                <a:latin typeface="Arial"/>
                <a:ea typeface="Arial"/>
                <a:cs typeface="Arial"/>
                <a:sym typeface="Arial"/>
              </a:rPr>
              <a:t>Views are typically stored as template files with the </a:t>
            </a:r>
            <a:r>
              <a:rPr lang="en-US"/>
              <a:t>.cshtml</a:t>
            </a:r>
            <a:r>
              <a:rPr lang="en-US" b="0" i="0">
                <a:solidFill>
                  <a:srgbClr val="0D0D0D"/>
                </a:solidFill>
                <a:latin typeface="Arial"/>
                <a:ea typeface="Arial"/>
                <a:cs typeface="Arial"/>
                <a:sym typeface="Arial"/>
              </a:rPr>
              <a:t> extension. These files can contain HTML markup as well as embedded C# code using Razor syntax</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200" b="0" i="0">
                <a:solidFill>
                  <a:schemeClr val="lt1"/>
                </a:solidFill>
                <a:latin typeface="Calibri"/>
                <a:ea typeface="Calibri"/>
                <a:cs typeface="Calibri"/>
                <a:sym typeface="Calibri"/>
              </a:rPr>
              <a:t>Razor Syntax</a:t>
            </a:r>
            <a:endParaRPr/>
          </a:p>
          <a:p>
            <a:pPr marL="0" marR="0" lvl="0" indent="0" algn="l" rtl="0">
              <a:lnSpc>
                <a:spcPct val="100000"/>
              </a:lnSpc>
              <a:spcBef>
                <a:spcPts val="0"/>
              </a:spcBef>
              <a:spcAft>
                <a:spcPts val="0"/>
              </a:spcAft>
              <a:buClr>
                <a:srgbClr val="000000"/>
              </a:buClr>
              <a:buSzPts val="1400"/>
              <a:buFont typeface="Arial"/>
              <a:buNone/>
            </a:pPr>
            <a:r>
              <a:rPr lang="en-US" b="0" i="0">
                <a:solidFill>
                  <a:srgbClr val="0D0D0D"/>
                </a:solidFill>
                <a:latin typeface="Arial"/>
                <a:ea typeface="Arial"/>
                <a:cs typeface="Arial"/>
                <a:sym typeface="Arial"/>
              </a:rPr>
              <a:t>Razor is a markup syntax that enables you to embed server-side C# code directly into your HTML markup. This allows you to dynamically generate content based on the data provided by the controller</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b="1" i="0">
                <a:solidFill>
                  <a:srgbClr val="0D0D0D"/>
                </a:solidFill>
                <a:latin typeface="Arial"/>
                <a:ea typeface="Arial"/>
                <a:cs typeface="Arial"/>
                <a:sym typeface="Arial"/>
              </a:rPr>
              <a:t>Data Passing</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b="0" i="0">
                <a:solidFill>
                  <a:srgbClr val="0D0D0D"/>
                </a:solidFill>
                <a:latin typeface="Arial"/>
                <a:ea typeface="Arial"/>
                <a:cs typeface="Arial"/>
                <a:sym typeface="Arial"/>
              </a:rPr>
              <a:t>Views receive data from the controller in the form of a model. This model is typically passed to the view when it is rendered, and you can access the properties of the model within the view using Razor syntax</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b="1" i="0">
                <a:solidFill>
                  <a:srgbClr val="0D0D0D"/>
                </a:solidFill>
                <a:latin typeface="Arial"/>
                <a:ea typeface="Arial"/>
                <a:cs typeface="Arial"/>
                <a:sym typeface="Arial"/>
              </a:rPr>
              <a:t>Layouts</a:t>
            </a:r>
            <a:r>
              <a:rPr lang="en-US" b="0" i="0">
                <a:solidFill>
                  <a:srgbClr val="0D0D0D"/>
                </a:solidFill>
                <a:latin typeface="Arial"/>
                <a:ea typeface="Arial"/>
                <a:cs typeface="Arial"/>
                <a:sym typeface="Arial"/>
              </a:rPr>
              <a:t>: ASP.NET Core allows you to define layout files that contain common HTML markup, such as headers, footers, and navigation bars. Views can then inherit from these layout files, allowing you to reuse common markup across multiple views</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b="1" i="0">
                <a:solidFill>
                  <a:srgbClr val="0D0D0D"/>
                </a:solidFill>
                <a:latin typeface="Arial"/>
                <a:ea typeface="Arial"/>
                <a:cs typeface="Arial"/>
                <a:sym typeface="Arial"/>
              </a:rPr>
              <a:t>View Components</a:t>
            </a:r>
            <a:r>
              <a:rPr lang="en-US" b="0" i="0">
                <a:solidFill>
                  <a:srgbClr val="0D0D0D"/>
                </a:solidFill>
                <a:latin typeface="Arial"/>
                <a:ea typeface="Arial"/>
                <a:cs typeface="Arial"/>
                <a:sym typeface="Arial"/>
              </a:rPr>
              <a:t>: View components are similar to partial views in previous versions of ASP.NET MVC. They allow you to encapsulate reusable sections of markup and logic into separate components that can be reused across multiple views</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b="1" i="0">
                <a:solidFill>
                  <a:srgbClr val="0D0D0D"/>
                </a:solidFill>
                <a:latin typeface="Arial"/>
                <a:ea typeface="Arial"/>
                <a:cs typeface="Arial"/>
                <a:sym typeface="Arial"/>
              </a:rPr>
              <a:t>View Rendering</a:t>
            </a:r>
            <a:r>
              <a:rPr lang="en-US" b="0" i="0">
                <a:solidFill>
                  <a:srgbClr val="0D0D0D"/>
                </a:solidFill>
                <a:latin typeface="Arial"/>
                <a:ea typeface="Arial"/>
                <a:cs typeface="Arial"/>
                <a:sym typeface="Arial"/>
              </a:rPr>
              <a:t>: Views are rendered by the ASP.NET Core runtime when an HTTP request is made to the corresponding controller action. The output of the view is then sent back to the client's browser as the response to the request</a:t>
            </a:r>
            <a:endParaRPr sz="1200" b="0" i="0">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b="0" i="0">
                <a:solidFill>
                  <a:srgbClr val="0D0D0D"/>
                </a:solidFill>
                <a:latin typeface="Arial"/>
                <a:ea typeface="Arial"/>
                <a:cs typeface="Arial"/>
                <a:sym typeface="Arial"/>
              </a:rPr>
              <a:t>Overall, views in ASP.NET Core provide a powerful mechanism for generating dynamic HTML content based on the data provided by the controller, while also allowing for the reuse of common markup and logic across multiple views</a:t>
            </a:r>
            <a:endParaRPr sz="1200" b="0" i="0">
              <a:solidFill>
                <a:schemeClr val="lt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b="1"/>
          </a:p>
        </p:txBody>
      </p:sp>
      <p:sp>
        <p:nvSpPr>
          <p:cNvPr id="256" name="Google Shape;25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the example of View.Here The common layout used is admin layout..Model used is Job.Here Job is iterating using foreach loop..</a:t>
            </a:r>
            <a:endParaRPr/>
          </a:p>
        </p:txBody>
      </p:sp>
      <p:sp>
        <p:nvSpPr>
          <p:cNvPr id="267" name="Google Shape;26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solidFill>
                  <a:schemeClr val="dk2"/>
                </a:solidFill>
              </a:rPr>
              <a:t>How does MVC Design Pattern work in </a:t>
            </a:r>
            <a:endParaRPr/>
          </a:p>
          <a:p>
            <a:pPr marL="0" lvl="0" indent="0" algn="l" rtl="0">
              <a:lnSpc>
                <a:spcPct val="100000"/>
              </a:lnSpc>
              <a:spcBef>
                <a:spcPts val="0"/>
              </a:spcBef>
              <a:spcAft>
                <a:spcPts val="0"/>
              </a:spcAft>
              <a:buSzPts val="1400"/>
              <a:buNone/>
            </a:pPr>
            <a:r>
              <a:rPr lang="en-US" b="0" i="0">
                <a:solidFill>
                  <a:srgbClr val="0D0D0D"/>
                </a:solidFill>
                <a:latin typeface="Arial"/>
                <a:ea typeface="Arial"/>
                <a:cs typeface="Arial"/>
                <a:sym typeface="Arial"/>
              </a:rPr>
              <a:t>Here's a breakdown of each step:</a:t>
            </a:r>
            <a:r>
              <a:rPr lang="en-US">
                <a:solidFill>
                  <a:schemeClr val="dk2"/>
                </a:solidFill>
              </a:rPr>
              <a:t>ASP.NET Core.</a:t>
            </a:r>
            <a:endParaRPr/>
          </a:p>
          <a:p>
            <a:pPr marL="0" lvl="0" indent="0" algn="l" rtl="0">
              <a:lnSpc>
                <a:spcPct val="100000"/>
              </a:lnSpc>
              <a:spcBef>
                <a:spcPts val="0"/>
              </a:spcBef>
              <a:spcAft>
                <a:spcPts val="0"/>
              </a:spcAft>
              <a:buSzPts val="1400"/>
              <a:buNone/>
            </a:pPr>
            <a:r>
              <a:rPr lang="en-US" b="1" i="0">
                <a:solidFill>
                  <a:srgbClr val="0D0D0D"/>
                </a:solidFill>
                <a:latin typeface="Arial"/>
                <a:ea typeface="Arial"/>
                <a:cs typeface="Arial"/>
                <a:sym typeface="Arial"/>
              </a:rPr>
              <a:t>Controller Handles Incoming Request</a:t>
            </a:r>
            <a:r>
              <a:rPr lang="en-US" b="0" i="0">
                <a:solidFill>
                  <a:srgbClr val="0D0D0D"/>
                </a:solidFill>
                <a:latin typeface="Arial"/>
                <a:ea typeface="Arial"/>
                <a:cs typeface="Arial"/>
                <a:sym typeface="Arial"/>
              </a:rPr>
              <a:t>: The process begins when an HTTP request is received by the ASP.NET Core application. The request is routed to the appropriate controller based on the URL and HTTP verb.</a:t>
            </a:r>
            <a:endParaRPr b="0" i="0">
              <a:solidFill>
                <a:schemeClr val="dk2"/>
              </a:solidFill>
              <a:latin typeface="Arial"/>
              <a:ea typeface="Arial"/>
              <a:cs typeface="Arial"/>
              <a:sym typeface="Arial"/>
            </a:endParaRPr>
          </a:p>
          <a:p>
            <a:pPr marL="0" lvl="0" indent="0" algn="l" rtl="0">
              <a:lnSpc>
                <a:spcPct val="100000"/>
              </a:lnSpc>
              <a:spcBef>
                <a:spcPts val="0"/>
              </a:spcBef>
              <a:spcAft>
                <a:spcPts val="0"/>
              </a:spcAft>
              <a:buSzPts val="1400"/>
              <a:buNone/>
            </a:pPr>
            <a:r>
              <a:rPr lang="en-US" b="1" i="0">
                <a:solidFill>
                  <a:srgbClr val="0D0D0D"/>
                </a:solidFill>
                <a:latin typeface="Arial"/>
                <a:ea typeface="Arial"/>
                <a:cs typeface="Arial"/>
                <a:sym typeface="Arial"/>
              </a:rPr>
              <a:t>Controller Creates Model</a:t>
            </a:r>
            <a:r>
              <a:rPr lang="en-US" b="0" i="0">
                <a:solidFill>
                  <a:srgbClr val="0D0D0D"/>
                </a:solidFill>
                <a:latin typeface="Arial"/>
                <a:ea typeface="Arial"/>
                <a:cs typeface="Arial"/>
                <a:sym typeface="Arial"/>
              </a:rPr>
              <a:t>: The controller component is responsible for handling the request, processing any data if necessary, and creating the model that will be passed to the view. This model typically contains the data that the view needs to render.</a:t>
            </a:r>
            <a:endParaRPr b="0" i="0">
              <a:solidFill>
                <a:schemeClr val="dk2"/>
              </a:solidFill>
              <a:latin typeface="Arial"/>
              <a:ea typeface="Arial"/>
              <a:cs typeface="Arial"/>
              <a:sym typeface="Arial"/>
            </a:endParaRPr>
          </a:p>
          <a:p>
            <a:pPr marL="0" lvl="0" indent="0" algn="l" rtl="0">
              <a:lnSpc>
                <a:spcPct val="100000"/>
              </a:lnSpc>
              <a:spcBef>
                <a:spcPts val="0"/>
              </a:spcBef>
              <a:spcAft>
                <a:spcPts val="0"/>
              </a:spcAft>
              <a:buSzPts val="1400"/>
              <a:buNone/>
            </a:pPr>
            <a:r>
              <a:rPr lang="en-US" b="1" i="0">
                <a:solidFill>
                  <a:srgbClr val="0D0D0D"/>
                </a:solidFill>
                <a:latin typeface="Arial"/>
                <a:ea typeface="Arial"/>
                <a:cs typeface="Arial"/>
                <a:sym typeface="Arial"/>
              </a:rPr>
              <a:t>Controller Selects View</a:t>
            </a:r>
            <a:r>
              <a:rPr lang="en-US" b="0" i="0">
                <a:solidFill>
                  <a:srgbClr val="0D0D0D"/>
                </a:solidFill>
                <a:latin typeface="Arial"/>
                <a:ea typeface="Arial"/>
                <a:cs typeface="Arial"/>
                <a:sym typeface="Arial"/>
              </a:rPr>
              <a:t>: Once the model is created, the controller selects the appropriate view to render. This selection is typically based on the action method being executed and the naming conventions used in ASP.NET Core.</a:t>
            </a:r>
            <a:endParaRPr b="0" i="0">
              <a:solidFill>
                <a:schemeClr val="dk2"/>
              </a:solidFill>
              <a:latin typeface="Arial"/>
              <a:ea typeface="Arial"/>
              <a:cs typeface="Arial"/>
              <a:sym typeface="Arial"/>
            </a:endParaRPr>
          </a:p>
          <a:p>
            <a:pPr marL="0" lvl="0" indent="0" algn="l" rtl="0">
              <a:lnSpc>
                <a:spcPct val="100000"/>
              </a:lnSpc>
              <a:spcBef>
                <a:spcPts val="0"/>
              </a:spcBef>
              <a:spcAft>
                <a:spcPts val="0"/>
              </a:spcAft>
              <a:buSzPts val="1400"/>
              <a:buNone/>
            </a:pPr>
            <a:r>
              <a:rPr lang="en-US" b="1" i="0">
                <a:solidFill>
                  <a:srgbClr val="0D0D0D"/>
                </a:solidFill>
                <a:latin typeface="Arial"/>
                <a:ea typeface="Arial"/>
                <a:cs typeface="Arial"/>
                <a:sym typeface="Arial"/>
              </a:rPr>
              <a:t>Controller Passes Model Data to View</a:t>
            </a:r>
            <a:r>
              <a:rPr lang="en-US" b="0" i="0">
                <a:solidFill>
                  <a:srgbClr val="0D0D0D"/>
                </a:solidFill>
                <a:latin typeface="Arial"/>
                <a:ea typeface="Arial"/>
                <a:cs typeface="Arial"/>
                <a:sym typeface="Arial"/>
              </a:rPr>
              <a:t>: Before rendering the view, the controller passes the model data to the view. This allows the view to access and display the data to the user.</a:t>
            </a:r>
            <a:endParaRPr b="0" i="0">
              <a:solidFill>
                <a:schemeClr val="dk2"/>
              </a:solidFill>
              <a:latin typeface="Arial"/>
              <a:ea typeface="Arial"/>
              <a:cs typeface="Arial"/>
              <a:sym typeface="Arial"/>
            </a:endParaRPr>
          </a:p>
          <a:p>
            <a:pPr marL="0" lvl="0" indent="0" algn="l" rtl="0">
              <a:lnSpc>
                <a:spcPct val="100000"/>
              </a:lnSpc>
              <a:spcBef>
                <a:spcPts val="0"/>
              </a:spcBef>
              <a:spcAft>
                <a:spcPts val="0"/>
              </a:spcAft>
              <a:buSzPts val="1400"/>
              <a:buNone/>
            </a:pPr>
            <a:r>
              <a:rPr lang="en-US" b="1" i="0">
                <a:solidFill>
                  <a:srgbClr val="0D0D0D"/>
                </a:solidFill>
                <a:latin typeface="Arial"/>
                <a:ea typeface="Arial"/>
                <a:cs typeface="Arial"/>
                <a:sym typeface="Arial"/>
              </a:rPr>
              <a:t>View Generates HTML</a:t>
            </a:r>
            <a:r>
              <a:rPr lang="en-US" b="0" i="0">
                <a:solidFill>
                  <a:srgbClr val="0D0D0D"/>
                </a:solidFill>
                <a:latin typeface="Arial"/>
                <a:ea typeface="Arial"/>
                <a:cs typeface="Arial"/>
                <a:sym typeface="Arial"/>
              </a:rPr>
              <a:t>: The view is responsible for generating the HTML markup that will be sent to the client's browser. Views in ASP.NET Core are typically written using Razor syntax, which allows for embedding C# code to dynamically generate HTML based on the model data.</a:t>
            </a:r>
            <a:endParaRPr b="0" i="0">
              <a:solidFill>
                <a:schemeClr val="dk2"/>
              </a:solidFill>
              <a:latin typeface="Arial"/>
              <a:ea typeface="Arial"/>
              <a:cs typeface="Arial"/>
              <a:sym typeface="Arial"/>
            </a:endParaRPr>
          </a:p>
          <a:p>
            <a:pPr marL="0" lvl="0" indent="0" algn="l" rtl="0">
              <a:lnSpc>
                <a:spcPct val="100000"/>
              </a:lnSpc>
              <a:spcBef>
                <a:spcPts val="0"/>
              </a:spcBef>
              <a:spcAft>
                <a:spcPts val="0"/>
              </a:spcAft>
              <a:buSzPts val="1400"/>
              <a:buNone/>
            </a:pPr>
            <a:r>
              <a:rPr lang="en-US" b="1" i="0">
                <a:solidFill>
                  <a:srgbClr val="0D0D0D"/>
                </a:solidFill>
                <a:latin typeface="Arial"/>
                <a:ea typeface="Arial"/>
                <a:cs typeface="Arial"/>
                <a:sym typeface="Arial"/>
              </a:rPr>
              <a:t>HTML Sent to Client</a:t>
            </a:r>
            <a:r>
              <a:rPr lang="en-US" b="0" i="0">
                <a:solidFill>
                  <a:srgbClr val="0D0D0D"/>
                </a:solidFill>
                <a:latin typeface="Arial"/>
                <a:ea typeface="Arial"/>
                <a:cs typeface="Arial"/>
                <a:sym typeface="Arial"/>
              </a:rPr>
              <a:t>: Once the HTML markup is generated, it is sent to the client's browser over the network as part of the HTTP response. The browser then renders the HTML, displaying the web page to the user</a:t>
            </a:r>
            <a:endParaRPr/>
          </a:p>
          <a:p>
            <a:pPr marL="0" lvl="0" indent="0" algn="l" rtl="0">
              <a:lnSpc>
                <a:spcPct val="100000"/>
              </a:lnSpc>
              <a:spcBef>
                <a:spcPts val="0"/>
              </a:spcBef>
              <a:spcAft>
                <a:spcPts val="0"/>
              </a:spcAft>
              <a:buSzPts val="1400"/>
              <a:buNone/>
            </a:pPr>
            <a:r>
              <a:rPr lang="en-US" b="0" i="0">
                <a:solidFill>
                  <a:srgbClr val="0D0D0D"/>
                </a:solidFill>
                <a:latin typeface="Arial"/>
                <a:ea typeface="Arial"/>
                <a:cs typeface="Arial"/>
                <a:sym typeface="Arial"/>
              </a:rPr>
              <a:t>This process repeats for each incoming request, with the controller handling the request, creating the model, selecting the view, passing data to the view, and finally rendering the HTML to be sent back to the client</a:t>
            </a:r>
            <a:endParaRPr/>
          </a:p>
        </p:txBody>
      </p:sp>
      <p:sp>
        <p:nvSpPr>
          <p:cNvPr id="274" name="Google Shape;27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21030" y="1122680"/>
            <a:ext cx="6309995" cy="16408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solidFill>
                  <a:schemeClr val="dk1"/>
                </a:solidFill>
              </a:rPr>
              <a:t>MVC</a:t>
            </a:r>
            <a:r>
              <a:rPr lang="en-US" sz="3110">
                <a:solidFill>
                  <a:schemeClr val="dk1"/>
                </a:solidFill>
              </a:rPr>
              <a:t>(Model-View- Controller)</a:t>
            </a:r>
            <a:endParaRPr sz="3110">
              <a:solidFill>
                <a:schemeClr val="dk1"/>
              </a:solidFill>
            </a:endParaRPr>
          </a:p>
        </p:txBody>
      </p:sp>
      <p:pic>
        <p:nvPicPr>
          <p:cNvPr id="89" name="Google Shape;89;p1"/>
          <p:cNvPicPr preferRelativeResize="0"/>
          <p:nvPr/>
        </p:nvPicPr>
        <p:blipFill rotWithShape="1">
          <a:blip r:embed="rId3">
            <a:alphaModFix/>
          </a:blip>
          <a:srcRect/>
          <a:stretch/>
        </p:blipFill>
        <p:spPr>
          <a:xfrm>
            <a:off x="7052310" y="1286510"/>
            <a:ext cx="4876800" cy="4876800"/>
          </a:xfrm>
          <a:prstGeom prst="rect">
            <a:avLst/>
          </a:prstGeom>
          <a:noFill/>
          <a:ln>
            <a:noFill/>
          </a:ln>
        </p:spPr>
      </p:pic>
      <p:pic>
        <p:nvPicPr>
          <p:cNvPr id="90" name="Google Shape;90;p1"/>
          <p:cNvPicPr preferRelativeResize="0"/>
          <p:nvPr/>
        </p:nvPicPr>
        <p:blipFill rotWithShape="1">
          <a:blip r:embed="rId4">
            <a:alphaModFix/>
          </a:blip>
          <a:srcRect/>
          <a:stretch/>
        </p:blipFill>
        <p:spPr>
          <a:xfrm>
            <a:off x="122238" y="0"/>
            <a:ext cx="487363" cy="487363"/>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childTnLst>
                                </p:cTn>
                              </p:par>
                              <p:par>
                                <p:cTn id="11" presetID="10" presetClass="entr" presetSubtype="0" fill="hold" nodeType="withEffect">
                                  <p:stCondLst>
                                    <p:cond delay="0"/>
                                  </p:stCondLst>
                                  <p:childTnLst>
                                    <p:set>
                                      <p:cBhvr>
                                        <p:cTn id="12" dur="1" fill="hold">
                                          <p:stCondLst>
                                            <p:cond delay="0"/>
                                          </p:stCondLst>
                                        </p:cTn>
                                        <p:tgtEl>
                                          <p:spTgt spid="89"/>
                                        </p:tgtEl>
                                        <p:attrNameLst>
                                          <p:attrName>style.visibility</p:attrName>
                                        </p:attrNameLst>
                                      </p:cBhvr>
                                      <p:to>
                                        <p:strVal val="visible"/>
                                      </p:to>
                                    </p:set>
                                    <p:animEffect transition="in" filter="fade">
                                      <p:cBhvr>
                                        <p:cTn id="13" dur="50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286385" y="217711"/>
            <a:ext cx="10734839" cy="13258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What is MVC?</a:t>
            </a:r>
            <a:endParaRPr>
              <a:solidFill>
                <a:schemeClr val="dk2"/>
              </a:solidFill>
            </a:endParaRPr>
          </a:p>
        </p:txBody>
      </p:sp>
      <p:sp>
        <p:nvSpPr>
          <p:cNvPr id="96" name="Google Shape;96;p2"/>
          <p:cNvSpPr txBox="1"/>
          <p:nvPr/>
        </p:nvSpPr>
        <p:spPr>
          <a:xfrm flipH="1">
            <a:off x="656426" y="4994429"/>
            <a:ext cx="8214053" cy="101562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250"/>
              <a:buFont typeface="Noto Sans Symbols"/>
              <a:buChar char="⮚"/>
            </a:pPr>
            <a:r>
              <a:rPr lang="en-US" sz="2000" b="0" i="0" u="none" strike="noStrike" cap="none">
                <a:solidFill>
                  <a:schemeClr val="dk1"/>
                </a:solidFill>
                <a:latin typeface="Calibri"/>
                <a:ea typeface="Calibri"/>
                <a:cs typeface="Calibri"/>
                <a:sym typeface="Calibri"/>
              </a:rPr>
              <a:t>MVC is not a Framework, it is a design pattern. </a:t>
            </a:r>
            <a:endParaRPr/>
          </a:p>
          <a:p>
            <a:pPr marL="285750" marR="0" lvl="0" indent="-142875" algn="l" rtl="0">
              <a:lnSpc>
                <a:spcPct val="150000"/>
              </a:lnSpc>
              <a:spcBef>
                <a:spcPts val="0"/>
              </a:spcBef>
              <a:spcAft>
                <a:spcPts val="0"/>
              </a:spcAft>
              <a:buClr>
                <a:schemeClr val="dk1"/>
              </a:buClr>
              <a:buSzPts val="2250"/>
              <a:buFont typeface="Noto Sans Symbols"/>
              <a:buNone/>
            </a:pPr>
            <a:endParaRPr sz="2000" b="0" i="0" u="none" strike="noStrike" cap="none">
              <a:solidFill>
                <a:schemeClr val="dk1"/>
              </a:solidFill>
              <a:latin typeface="Calibri"/>
              <a:ea typeface="Calibri"/>
              <a:cs typeface="Calibri"/>
              <a:sym typeface="Calibri"/>
            </a:endParaRPr>
          </a:p>
        </p:txBody>
      </p:sp>
      <p:pic>
        <p:nvPicPr>
          <p:cNvPr id="97" name="Google Shape;97;p2" descr="Aitrich-Logo-Transparent-BG-1536x504"/>
          <p:cNvPicPr preferRelativeResize="0">
            <a:picLocks noGrp="1"/>
          </p:cNvPicPr>
          <p:nvPr>
            <p:ph type="body" idx="2"/>
          </p:nvPr>
        </p:nvPicPr>
        <p:blipFill rotWithShape="1">
          <a:blip r:embed="rId3">
            <a:alphaModFix/>
          </a:blip>
          <a:srcRect/>
          <a:stretch/>
        </p:blipFill>
        <p:spPr>
          <a:xfrm>
            <a:off x="286385" y="6311265"/>
            <a:ext cx="1101090" cy="361315"/>
          </a:xfrm>
          <a:prstGeom prst="rect">
            <a:avLst/>
          </a:prstGeom>
          <a:noFill/>
          <a:ln>
            <a:noFill/>
          </a:ln>
        </p:spPr>
      </p:pic>
      <p:pic>
        <p:nvPicPr>
          <p:cNvPr id="98" name="Google Shape;98;p2" descr="29765897_7559396"/>
          <p:cNvPicPr preferRelativeResize="0">
            <a:picLocks noGrp="1"/>
          </p:cNvPicPr>
          <p:nvPr>
            <p:ph type="body" idx="1"/>
          </p:nvPr>
        </p:nvPicPr>
        <p:blipFill rotWithShape="1">
          <a:blip r:embed="rId4">
            <a:alphaModFix/>
          </a:blip>
          <a:srcRect/>
          <a:stretch/>
        </p:blipFill>
        <p:spPr>
          <a:xfrm>
            <a:off x="8385175" y="2580640"/>
            <a:ext cx="3806825" cy="3184525"/>
          </a:xfrm>
          <a:prstGeom prst="rect">
            <a:avLst/>
          </a:prstGeom>
          <a:noFill/>
          <a:ln>
            <a:noFill/>
          </a:ln>
        </p:spPr>
      </p:pic>
      <p:sp>
        <p:nvSpPr>
          <p:cNvPr id="99" name="Google Shape;99;p2"/>
          <p:cNvSpPr txBox="1"/>
          <p:nvPr/>
        </p:nvSpPr>
        <p:spPr>
          <a:xfrm>
            <a:off x="656426" y="1587930"/>
            <a:ext cx="7908352" cy="142962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250"/>
              <a:buFont typeface="Noto Sans Symbols"/>
              <a:buChar char="⮚"/>
            </a:pPr>
            <a:r>
              <a:rPr lang="en-US" sz="2000" b="0" i="0" u="none" strike="noStrike" cap="none">
                <a:solidFill>
                  <a:schemeClr val="dk1"/>
                </a:solidFill>
                <a:latin typeface="Calibri"/>
                <a:ea typeface="Calibri"/>
                <a:cs typeface="Calibri"/>
                <a:sym typeface="Calibri"/>
              </a:rPr>
              <a:t>MVC (Model-View-Controller) design pattern was introduced in the 1970s which divides an application into 3 major components. They are Model, View, and Controller.​</a:t>
            </a:r>
            <a:endParaRPr/>
          </a:p>
        </p:txBody>
      </p:sp>
      <p:sp>
        <p:nvSpPr>
          <p:cNvPr id="100" name="Google Shape;100;p2"/>
          <p:cNvSpPr txBox="1"/>
          <p:nvPr/>
        </p:nvSpPr>
        <p:spPr>
          <a:xfrm>
            <a:off x="656426" y="3224932"/>
            <a:ext cx="7908352" cy="96795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250"/>
              <a:buFont typeface="Noto Sans Symbols"/>
              <a:buChar char="⮚"/>
            </a:pPr>
            <a:r>
              <a:rPr lang="en-US" sz="2000" b="0" i="0" u="none" strike="noStrike" cap="none">
                <a:solidFill>
                  <a:schemeClr val="dk1"/>
                </a:solidFill>
                <a:latin typeface="Calibri"/>
                <a:ea typeface="Calibri"/>
                <a:cs typeface="Calibri"/>
                <a:sym typeface="Calibri"/>
              </a:rPr>
              <a:t>MVC stands for Model View and Controller.</a:t>
            </a:r>
            <a:endParaRPr/>
          </a:p>
          <a:p>
            <a:pPr marL="285750" marR="0" lvl="0" indent="-142875" algn="l" rtl="0">
              <a:lnSpc>
                <a:spcPct val="150000"/>
              </a:lnSpc>
              <a:spcBef>
                <a:spcPts val="0"/>
              </a:spcBef>
              <a:spcAft>
                <a:spcPts val="0"/>
              </a:spcAft>
              <a:buClr>
                <a:schemeClr val="dk1"/>
              </a:buClr>
              <a:buSzPts val="2250"/>
              <a:buFont typeface="Noto Sans Symbols"/>
              <a:buNone/>
            </a:pPr>
            <a:endParaRPr sz="2000" b="0" i="0" u="none" strike="noStrike" cap="none">
              <a:solidFill>
                <a:schemeClr val="dk1"/>
              </a:solidFill>
              <a:latin typeface="Calibri"/>
              <a:ea typeface="Calibri"/>
              <a:cs typeface="Calibri"/>
              <a:sym typeface="Calibri"/>
            </a:endParaRPr>
          </a:p>
        </p:txBody>
      </p:sp>
      <p:sp>
        <p:nvSpPr>
          <p:cNvPr id="101" name="Google Shape;101;p2"/>
          <p:cNvSpPr txBox="1"/>
          <p:nvPr/>
        </p:nvSpPr>
        <p:spPr>
          <a:xfrm>
            <a:off x="688258" y="3994092"/>
            <a:ext cx="7908352" cy="7078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libri"/>
                <a:ea typeface="Calibri"/>
                <a:cs typeface="Calibri"/>
                <a:sym typeface="Calibri"/>
              </a:rPr>
              <a:t>It is an architectural design pattern that means this design pattern is used at the architecture level of an application. </a:t>
            </a:r>
            <a:endParaRPr sz="2000" b="0" i="0" u="none" strike="noStrike" cap="none">
              <a:solidFill>
                <a:srgbClr val="000000"/>
              </a:solidFill>
              <a:latin typeface="Noto Sans Symbols"/>
              <a:ea typeface="Noto Sans Symbols"/>
              <a:cs typeface="Noto Sans Symbols"/>
              <a:sym typeface="Noto Sans Symbols"/>
            </a:endParaRPr>
          </a:p>
        </p:txBody>
      </p:sp>
      <p:pic>
        <p:nvPicPr>
          <p:cNvPr id="102" name="Google Shape;102;p2"/>
          <p:cNvPicPr preferRelativeResize="0"/>
          <p:nvPr/>
        </p:nvPicPr>
        <p:blipFill rotWithShape="1">
          <a:blip r:embed="rId5">
            <a:alphaModFix/>
          </a:blip>
          <a:srcRect/>
          <a:stretch/>
        </p:blipFill>
        <p:spPr>
          <a:xfrm>
            <a:off x="50511" y="92075"/>
            <a:ext cx="487363" cy="487363"/>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0"/>
                                        <p:tgtEl>
                                          <p:spTgt spid="102"/>
                                        </p:tgtEl>
                                      </p:cBhvr>
                                    </p:animEffect>
                                  </p:childTnLst>
                                </p:cTn>
                              </p:par>
                              <p:par>
                                <p:cTn id="8" presetID="10" presetClass="entr" presetSubtype="0" fill="hold" nodeType="withEffect">
                                  <p:stCondLst>
                                    <p:cond delay="1960"/>
                                  </p:stCondLst>
                                  <p:childTnLst>
                                    <p:set>
                                      <p:cBhvr>
                                        <p:cTn id="9" dur="1" fill="hold">
                                          <p:stCondLst>
                                            <p:cond delay="0"/>
                                          </p:stCondLst>
                                        </p:cTn>
                                        <p:tgtEl>
                                          <p:spTgt spid="99"/>
                                        </p:tgtEl>
                                        <p:attrNameLst>
                                          <p:attrName>style.visibility</p:attrName>
                                        </p:attrNameLst>
                                      </p:cBhvr>
                                      <p:to>
                                        <p:strVal val="visible"/>
                                      </p:to>
                                    </p:set>
                                    <p:animEffect transition="in" filter="fade">
                                      <p:cBhvr>
                                        <p:cTn id="10" dur="10"/>
                                        <p:tgtEl>
                                          <p:spTgt spid="99"/>
                                        </p:tgtEl>
                                      </p:cBhvr>
                                    </p:animEffect>
                                  </p:childTnLst>
                                </p:cTn>
                              </p:par>
                              <p:par>
                                <p:cTn id="11" presetID="10" presetClass="entr" presetSubtype="0" fill="hold" nodeType="withEffect">
                                  <p:stCondLst>
                                    <p:cond delay="19950"/>
                                  </p:stCondLst>
                                  <p:childTnLst>
                                    <p:set>
                                      <p:cBhvr>
                                        <p:cTn id="12" dur="1" fill="hold">
                                          <p:stCondLst>
                                            <p:cond delay="0"/>
                                          </p:stCondLst>
                                        </p:cTn>
                                        <p:tgtEl>
                                          <p:spTgt spid="100">
                                            <p:txEl>
                                              <p:pRg st="0" end="0"/>
                                            </p:txEl>
                                          </p:spTgt>
                                        </p:tgtEl>
                                        <p:attrNameLst>
                                          <p:attrName>style.visibility</p:attrName>
                                        </p:attrNameLst>
                                      </p:cBhvr>
                                      <p:to>
                                        <p:strVal val="visible"/>
                                      </p:to>
                                    </p:set>
                                    <p:animEffect transition="in" filter="fade">
                                      <p:cBhvr>
                                        <p:cTn id="13" dur="10"/>
                                        <p:tgtEl>
                                          <p:spTgt spid="100">
                                            <p:txEl>
                                              <p:pRg st="0" end="0"/>
                                            </p:txEl>
                                          </p:spTgt>
                                        </p:tgtEl>
                                      </p:cBhvr>
                                    </p:animEffect>
                                  </p:childTnLst>
                                </p:cTn>
                              </p:par>
                              <p:par>
                                <p:cTn id="14" presetID="10" presetClass="entr" presetSubtype="0" fill="hold" nodeType="withEffect">
                                  <p:stCondLst>
                                    <p:cond delay="19950"/>
                                  </p:stCondLst>
                                  <p:childTnLst>
                                    <p:set>
                                      <p:cBhvr>
                                        <p:cTn id="15" dur="1" fill="hold">
                                          <p:stCondLst>
                                            <p:cond delay="0"/>
                                          </p:stCondLst>
                                        </p:cTn>
                                        <p:tgtEl>
                                          <p:spTgt spid="100">
                                            <p:txEl>
                                              <p:pRg st="1" end="1"/>
                                            </p:txEl>
                                          </p:spTgt>
                                        </p:tgtEl>
                                        <p:attrNameLst>
                                          <p:attrName>style.visibility</p:attrName>
                                        </p:attrNameLst>
                                      </p:cBhvr>
                                      <p:to>
                                        <p:strVal val="visible"/>
                                      </p:to>
                                    </p:set>
                                    <p:animEffect transition="in" filter="fade">
                                      <p:cBhvr>
                                        <p:cTn id="16" dur="10"/>
                                        <p:tgtEl>
                                          <p:spTgt spid="100">
                                            <p:txEl>
                                              <p:pRg st="1" end="1"/>
                                            </p:txEl>
                                          </p:spTgt>
                                        </p:tgtEl>
                                      </p:cBhvr>
                                    </p:animEffect>
                                  </p:childTnLst>
                                </p:cTn>
                              </p:par>
                              <p:par>
                                <p:cTn id="17" presetID="10" presetClass="entr" presetSubtype="0" fill="hold" nodeType="withEffect">
                                  <p:stCondLst>
                                    <p:cond delay="2432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10"/>
                                        <p:tgtEl>
                                          <p:spTgt spid="101"/>
                                        </p:tgtEl>
                                      </p:cBhvr>
                                    </p:animEffect>
                                  </p:childTnLst>
                                </p:cTn>
                              </p:par>
                              <p:par>
                                <p:cTn id="20" presetID="10" presetClass="entr" presetSubtype="0" fill="hold" nodeType="withEffect">
                                  <p:stCondLst>
                                    <p:cond delay="47740"/>
                                  </p:stCondLst>
                                  <p:childTnLst>
                                    <p:set>
                                      <p:cBhvr>
                                        <p:cTn id="21" dur="1" fill="hold">
                                          <p:stCondLst>
                                            <p:cond delay="0"/>
                                          </p:stCondLst>
                                        </p:cTn>
                                        <p:tgtEl>
                                          <p:spTgt spid="96"/>
                                        </p:tgtEl>
                                        <p:attrNameLst>
                                          <p:attrName>style.visibility</p:attrName>
                                        </p:attrNameLst>
                                      </p:cBhvr>
                                      <p:to>
                                        <p:strVal val="visible"/>
                                      </p:to>
                                    </p:set>
                                    <p:animEffect transition="in" filter="fade">
                                      <p:cBhvr>
                                        <p:cTn id="22" dur="1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What is ASP.NET Core MVC?</a:t>
            </a:r>
            <a:endParaRPr>
              <a:solidFill>
                <a:schemeClr val="dk2"/>
              </a:solidFill>
            </a:endParaRPr>
          </a:p>
        </p:txBody>
      </p:sp>
      <p:sp>
        <p:nvSpPr>
          <p:cNvPr id="108" name="Google Shape;108;p3"/>
          <p:cNvSpPr txBox="1">
            <a:spLocks noGrp="1"/>
          </p:cNvSpPr>
          <p:nvPr>
            <p:ph type="body" idx="1"/>
          </p:nvPr>
        </p:nvSpPr>
        <p:spPr>
          <a:xfrm>
            <a:off x="838200" y="1825625"/>
            <a:ext cx="6666865" cy="4351655"/>
          </a:xfrm>
          <a:prstGeom prst="rect">
            <a:avLst/>
          </a:prstGeom>
          <a:noFill/>
          <a:ln>
            <a:noFill/>
          </a:ln>
        </p:spPr>
        <p:txBody>
          <a:bodyPr spcFirstLastPara="1" wrap="square" lIns="91425" tIns="45700" rIns="91425" bIns="45700" anchor="t" anchorCtr="0">
            <a:normAutofit fontScale="97500" lnSpcReduction="10000"/>
          </a:bodyPr>
          <a:lstStyle/>
          <a:p>
            <a:pPr marL="228600" lvl="0" indent="-228600" algn="l" rtl="0">
              <a:lnSpc>
                <a:spcPct val="130000"/>
              </a:lnSpc>
              <a:spcBef>
                <a:spcPts val="0"/>
              </a:spcBef>
              <a:spcAft>
                <a:spcPts val="0"/>
              </a:spcAft>
              <a:buClr>
                <a:schemeClr val="dk1"/>
              </a:buClr>
              <a:buSzPct val="100000"/>
              <a:buFont typeface="Noto Sans Symbols"/>
              <a:buChar char="⮚"/>
            </a:pPr>
            <a:r>
              <a:rPr lang="en-US" sz="2400"/>
              <a:t>The ASP.NET Core MVC is a lightweight, open-source, highly testable presentation framework that is used for building web apps and Web APIs using the Model-View-Controller (MVC) design pattern.</a:t>
            </a:r>
            <a:endParaRPr sz="2400"/>
          </a:p>
          <a:p>
            <a:pPr marL="228600" lvl="0" indent="-228600" algn="l" rtl="0">
              <a:lnSpc>
                <a:spcPct val="130000"/>
              </a:lnSpc>
              <a:spcBef>
                <a:spcPts val="1000"/>
              </a:spcBef>
              <a:spcAft>
                <a:spcPts val="0"/>
              </a:spcAft>
              <a:buClr>
                <a:schemeClr val="dk1"/>
              </a:buClr>
              <a:buSzPct val="100000"/>
              <a:buFont typeface="Noto Sans Symbols"/>
              <a:buChar char="⮚"/>
            </a:pPr>
            <a:r>
              <a:rPr lang="en-US" sz="2400"/>
              <a:t>MVC is a design pattern and ASP.NET Core MVC is the framework that is based on MVC Design Pattern.</a:t>
            </a:r>
            <a:endParaRPr sz="2400"/>
          </a:p>
          <a:p>
            <a:pPr marL="228600" lvl="0" indent="-228600" algn="l" rtl="0">
              <a:lnSpc>
                <a:spcPct val="130000"/>
              </a:lnSpc>
              <a:spcBef>
                <a:spcPts val="1000"/>
              </a:spcBef>
              <a:spcAft>
                <a:spcPts val="0"/>
              </a:spcAft>
              <a:buClr>
                <a:schemeClr val="dk1"/>
              </a:buClr>
              <a:buSzPct val="100000"/>
              <a:buFont typeface="Noto Sans Symbols"/>
              <a:buChar char="⮚"/>
            </a:pPr>
            <a:r>
              <a:rPr lang="en-US" sz="2400"/>
              <a:t>It also supports for Test-Driven Development and also uses the latest web standards.</a:t>
            </a:r>
            <a:endParaRPr sz="2400"/>
          </a:p>
        </p:txBody>
      </p:sp>
      <p:pic>
        <p:nvPicPr>
          <p:cNvPr id="109" name="Google Shape;109;p3" descr="Aitrich-Logo-Transparent-BG-1536x504"/>
          <p:cNvPicPr preferRelativeResize="0"/>
          <p:nvPr/>
        </p:nvPicPr>
        <p:blipFill rotWithShape="1">
          <a:blip r:embed="rId3">
            <a:alphaModFix/>
          </a:blip>
          <a:srcRect/>
          <a:stretch/>
        </p:blipFill>
        <p:spPr>
          <a:xfrm>
            <a:off x="286385" y="6311265"/>
            <a:ext cx="1101090" cy="361315"/>
          </a:xfrm>
          <a:prstGeom prst="rect">
            <a:avLst/>
          </a:prstGeom>
          <a:noFill/>
          <a:ln>
            <a:noFill/>
          </a:ln>
        </p:spPr>
      </p:pic>
      <p:pic>
        <p:nvPicPr>
          <p:cNvPr id="110" name="Google Shape;110;p3" descr="10798281_19362653 (3)"/>
          <p:cNvPicPr preferRelativeResize="0">
            <a:picLocks noGrp="1"/>
          </p:cNvPicPr>
          <p:nvPr>
            <p:ph type="body" idx="2"/>
          </p:nvPr>
        </p:nvPicPr>
        <p:blipFill rotWithShape="1">
          <a:blip r:embed="rId4">
            <a:alphaModFix/>
          </a:blip>
          <a:srcRect/>
          <a:stretch/>
        </p:blipFill>
        <p:spPr>
          <a:xfrm>
            <a:off x="7224395" y="2273935"/>
            <a:ext cx="4129405" cy="3453765"/>
          </a:xfrm>
          <a:prstGeom prst="rect">
            <a:avLst/>
          </a:prstGeom>
          <a:noFill/>
          <a:ln>
            <a:noFill/>
          </a:ln>
        </p:spPr>
      </p:pic>
      <p:pic>
        <p:nvPicPr>
          <p:cNvPr id="111" name="Google Shape;111;p3"/>
          <p:cNvPicPr preferRelativeResize="0"/>
          <p:nvPr/>
        </p:nvPicPr>
        <p:blipFill rotWithShape="1">
          <a:blip r:embed="rId5">
            <a:alphaModFix/>
          </a:blip>
          <a:srcRect/>
          <a:stretch/>
        </p:blipFill>
        <p:spPr>
          <a:xfrm>
            <a:off x="92075" y="92075"/>
            <a:ext cx="487363" cy="487363"/>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0"/>
                                        <p:tgtEl>
                                          <p:spTgt spid="111"/>
                                        </p:tgtEl>
                                      </p:cBhvr>
                                    </p:animEffect>
                                  </p:childTnLst>
                                </p:cTn>
                              </p:par>
                              <p:par>
                                <p:cTn id="8" presetID="2" presetClass="entr" presetSubtype="4" fill="hold" nodeType="withEffect">
                                  <p:stCondLst>
                                    <p:cond delay="2110"/>
                                  </p:stCondLst>
                                  <p:childTnLst>
                                    <p:set>
                                      <p:cBhvr>
                                        <p:cTn id="9" dur="1" fill="hold">
                                          <p:stCondLst>
                                            <p:cond delay="0"/>
                                          </p:stCondLst>
                                        </p:cTn>
                                        <p:tgtEl>
                                          <p:spTgt spid="108">
                                            <p:txEl>
                                              <p:pRg st="0" end="0"/>
                                            </p:txEl>
                                          </p:spTgt>
                                        </p:tgtEl>
                                        <p:attrNameLst>
                                          <p:attrName>style.visibility</p:attrName>
                                        </p:attrNameLst>
                                      </p:cBhvr>
                                      <p:to>
                                        <p:strVal val="visible"/>
                                      </p:to>
                                    </p:set>
                                    <p:anim calcmode="lin" valueType="num">
                                      <p:cBhvr additive="base">
                                        <p:cTn id="10" dur="500"/>
                                        <p:tgtEl>
                                          <p:spTgt spid="108">
                                            <p:txEl>
                                              <p:pRg st="0" end="0"/>
                                            </p:txEl>
                                          </p:spTgt>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2110"/>
                                  </p:stCondLst>
                                  <p:childTnLst>
                                    <p:set>
                                      <p:cBhvr>
                                        <p:cTn id="12" dur="1" fill="hold">
                                          <p:stCondLst>
                                            <p:cond delay="0"/>
                                          </p:stCondLst>
                                        </p:cTn>
                                        <p:tgtEl>
                                          <p:spTgt spid="108">
                                            <p:txEl>
                                              <p:pRg st="1" end="1"/>
                                            </p:txEl>
                                          </p:spTgt>
                                        </p:tgtEl>
                                        <p:attrNameLst>
                                          <p:attrName>style.visibility</p:attrName>
                                        </p:attrNameLst>
                                      </p:cBhvr>
                                      <p:to>
                                        <p:strVal val="visible"/>
                                      </p:to>
                                    </p:set>
                                    <p:anim calcmode="lin" valueType="num">
                                      <p:cBhvr additive="base">
                                        <p:cTn id="13" dur="500"/>
                                        <p:tgtEl>
                                          <p:spTgt spid="108">
                                            <p:txEl>
                                              <p:pRg st="1" end="1"/>
                                            </p:txEl>
                                          </p:spTgt>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2110"/>
                                  </p:stCondLst>
                                  <p:childTnLst>
                                    <p:set>
                                      <p:cBhvr>
                                        <p:cTn id="15" dur="1" fill="hold">
                                          <p:stCondLst>
                                            <p:cond delay="0"/>
                                          </p:stCondLst>
                                        </p:cTn>
                                        <p:tgtEl>
                                          <p:spTgt spid="108">
                                            <p:txEl>
                                              <p:pRg st="2" end="2"/>
                                            </p:txEl>
                                          </p:spTgt>
                                        </p:tgtEl>
                                        <p:attrNameLst>
                                          <p:attrName>style.visibility</p:attrName>
                                        </p:attrNameLst>
                                      </p:cBhvr>
                                      <p:to>
                                        <p:strVal val="visible"/>
                                      </p:to>
                                    </p:set>
                                    <p:anim calcmode="lin" valueType="num">
                                      <p:cBhvr additive="base">
                                        <p:cTn id="16" dur="500"/>
                                        <p:tgtEl>
                                          <p:spTgt spid="10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a:spLocks noGrp="1"/>
          </p:cNvSpPr>
          <p:nvPr>
            <p:ph type="title"/>
          </p:nvPr>
        </p:nvSpPr>
        <p:spPr>
          <a:xfrm>
            <a:off x="838200" y="210820"/>
            <a:ext cx="10515600" cy="14801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to Set up MVC Application  in ASP.NET Core</a:t>
            </a:r>
            <a:endParaRPr/>
          </a:p>
        </p:txBody>
      </p:sp>
      <p:pic>
        <p:nvPicPr>
          <p:cNvPr id="118" name="Google Shape;118;p4" descr="Aitrich-Logo-Transparent-BG-1536x504"/>
          <p:cNvPicPr preferRelativeResize="0"/>
          <p:nvPr/>
        </p:nvPicPr>
        <p:blipFill rotWithShape="1">
          <a:blip r:embed="rId3">
            <a:alphaModFix/>
          </a:blip>
          <a:srcRect/>
          <a:stretch/>
        </p:blipFill>
        <p:spPr>
          <a:xfrm>
            <a:off x="286385" y="6311265"/>
            <a:ext cx="1101090" cy="361315"/>
          </a:xfrm>
          <a:prstGeom prst="rect">
            <a:avLst/>
          </a:prstGeom>
          <a:noFill/>
          <a:ln>
            <a:noFill/>
          </a:ln>
        </p:spPr>
      </p:pic>
      <p:grpSp>
        <p:nvGrpSpPr>
          <p:cNvPr id="119" name="Google Shape;119;p4"/>
          <p:cNvGrpSpPr/>
          <p:nvPr/>
        </p:nvGrpSpPr>
        <p:grpSpPr>
          <a:xfrm>
            <a:off x="1165860" y="1486535"/>
            <a:ext cx="10401936" cy="1464310"/>
            <a:chOff x="0" y="0"/>
            <a:chExt cx="10401936" cy="1464310"/>
          </a:xfrm>
        </p:grpSpPr>
        <p:sp>
          <p:nvSpPr>
            <p:cNvPr id="120" name="Google Shape;120;p4"/>
            <p:cNvSpPr/>
            <p:nvPr/>
          </p:nvSpPr>
          <p:spPr>
            <a:xfrm>
              <a:off x="780145" y="0"/>
              <a:ext cx="8841645" cy="1464310"/>
            </a:xfrm>
            <a:prstGeom prst="rightArrow">
              <a:avLst>
                <a:gd name="adj1" fmla="val 50000"/>
                <a:gd name="adj2" fmla="val 50000"/>
              </a:avLst>
            </a:prstGeom>
            <a:solidFill>
              <a:srgbClr val="D0DE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4"/>
            <p:cNvSpPr txBox="1"/>
            <p:nvPr/>
          </p:nvSpPr>
          <p:spPr>
            <a:xfrm>
              <a:off x="780145" y="0"/>
              <a:ext cx="8841645" cy="146431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4"/>
            <p:cNvSpPr/>
            <p:nvPr/>
          </p:nvSpPr>
          <p:spPr>
            <a:xfrm>
              <a:off x="0" y="439293"/>
              <a:ext cx="3120581" cy="585724"/>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4"/>
            <p:cNvSpPr txBox="1"/>
            <p:nvPr/>
          </p:nvSpPr>
          <p:spPr>
            <a:xfrm>
              <a:off x="0" y="439293"/>
              <a:ext cx="3120581" cy="585724"/>
            </a:xfrm>
            <a:prstGeom prst="rect">
              <a:avLst/>
            </a:prstGeom>
            <a:noFill/>
            <a:ln>
              <a:noFill/>
            </a:ln>
          </p:spPr>
          <p:txBody>
            <a:bodyPr spcFirstLastPara="1" wrap="square" lIns="76200" tIns="76200" rIns="76200" bIns="762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Create New Project</a:t>
              </a:r>
              <a:endParaRPr sz="2000" b="0" i="0" u="none" strike="noStrike" cap="none">
                <a:solidFill>
                  <a:schemeClr val="dk1"/>
                </a:solidFill>
                <a:latin typeface="Calibri"/>
                <a:ea typeface="Calibri"/>
                <a:cs typeface="Calibri"/>
                <a:sym typeface="Calibri"/>
              </a:endParaRPr>
            </a:p>
          </p:txBody>
        </p:sp>
        <p:sp>
          <p:nvSpPr>
            <p:cNvPr id="124" name="Google Shape;124;p4"/>
            <p:cNvSpPr/>
            <p:nvPr/>
          </p:nvSpPr>
          <p:spPr>
            <a:xfrm>
              <a:off x="3640677" y="439293"/>
              <a:ext cx="3120581" cy="585724"/>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4"/>
            <p:cNvSpPr txBox="1"/>
            <p:nvPr/>
          </p:nvSpPr>
          <p:spPr>
            <a:xfrm>
              <a:off x="3640677" y="439293"/>
              <a:ext cx="3120581" cy="585724"/>
            </a:xfrm>
            <a:prstGeom prst="rect">
              <a:avLst/>
            </a:prstGeom>
            <a:noFill/>
            <a:ln>
              <a:noFill/>
            </a:ln>
          </p:spPr>
          <p:txBody>
            <a:bodyPr spcFirstLastPara="1" wrap="square" lIns="76200" tIns="76200" rIns="76200" bIns="762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Configure your new project</a:t>
              </a:r>
              <a:endParaRPr sz="2000" b="0" i="0" u="none" strike="noStrike" cap="none">
                <a:solidFill>
                  <a:schemeClr val="dk1"/>
                </a:solidFill>
                <a:latin typeface="Calibri"/>
                <a:ea typeface="Calibri"/>
                <a:cs typeface="Calibri"/>
                <a:sym typeface="Calibri"/>
              </a:endParaRPr>
            </a:p>
          </p:txBody>
        </p:sp>
        <p:sp>
          <p:nvSpPr>
            <p:cNvPr id="126" name="Google Shape;126;p4"/>
            <p:cNvSpPr/>
            <p:nvPr/>
          </p:nvSpPr>
          <p:spPr>
            <a:xfrm>
              <a:off x="7281355" y="439293"/>
              <a:ext cx="3120581" cy="585724"/>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4"/>
            <p:cNvSpPr txBox="1"/>
            <p:nvPr/>
          </p:nvSpPr>
          <p:spPr>
            <a:xfrm>
              <a:off x="7281355" y="439293"/>
              <a:ext cx="3120581" cy="585724"/>
            </a:xfrm>
            <a:prstGeom prst="rect">
              <a:avLst/>
            </a:prstGeom>
            <a:noFill/>
            <a:ln>
              <a:noFill/>
            </a:ln>
          </p:spPr>
          <p:txBody>
            <a:bodyPr spcFirstLastPara="1" wrap="square" lIns="76200" tIns="76200" rIns="76200" bIns="762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Addition information</a:t>
              </a:r>
              <a:endParaRPr sz="2000" b="0" i="0" u="none" strike="noStrike" cap="none">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B1B1CDE0-3F69-4283-9476-55BCC2E91809}"/>
              </a:ext>
            </a:extLst>
          </p:cNvPr>
          <p:cNvPicPr>
            <a:picLocks noChangeAspect="1"/>
          </p:cNvPicPr>
          <p:nvPr/>
        </p:nvPicPr>
        <p:blipFill>
          <a:blip r:embed="rId4"/>
          <a:stretch>
            <a:fillRect/>
          </a:stretch>
        </p:blipFill>
        <p:spPr>
          <a:xfrm>
            <a:off x="4806537" y="2722554"/>
            <a:ext cx="3120581" cy="3639146"/>
          </a:xfrm>
          <a:prstGeom prst="rect">
            <a:avLst/>
          </a:prstGeom>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p:nvPr/>
        </p:nvSpPr>
        <p:spPr>
          <a:xfrm>
            <a:off x="3595370" y="581025"/>
            <a:ext cx="3705860" cy="16300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Model:</a:t>
            </a:r>
            <a:r>
              <a:rPr lang="en-US" sz="2000" b="1" i="0" u="none" strike="noStrike" cap="none">
                <a:solidFill>
                  <a:schemeClr val="lt1"/>
                </a:solidFill>
                <a:latin typeface="Calibri"/>
                <a:ea typeface="Calibri"/>
                <a:cs typeface="Calibri"/>
                <a:sym typeface="Calibri"/>
              </a:rPr>
              <a:t>	A set of classes that describes the data you are working with as well as the business logic.​</a:t>
            </a:r>
            <a:endParaRPr sz="2000" b="1"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3" name="Google Shape;133;p5"/>
          <p:cNvSpPr/>
          <p:nvPr/>
        </p:nvSpPr>
        <p:spPr>
          <a:xfrm>
            <a:off x="5473872" y="1900237"/>
            <a:ext cx="3738245" cy="171894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 name="Google Shape;134;p5"/>
          <p:cNvSpPr txBox="1"/>
          <p:nvPr/>
        </p:nvSpPr>
        <p:spPr>
          <a:xfrm>
            <a:off x="5506257" y="2203132"/>
            <a:ext cx="3705860"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Calibri"/>
                <a:ea typeface="Calibri"/>
                <a:cs typeface="Calibri"/>
                <a:sym typeface="Calibri"/>
              </a:rPr>
              <a:t>Controller:A set of classes that handles communication from the user, overall application flow, and application-specific logic.​</a:t>
            </a:r>
            <a:endParaRPr sz="2000" b="1" i="0" u="none" strike="noStrike" cap="none">
              <a:solidFill>
                <a:schemeClr val="lt1"/>
              </a:solidFill>
              <a:latin typeface="Calibri"/>
              <a:ea typeface="Calibri"/>
              <a:cs typeface="Calibri"/>
              <a:sym typeface="Calibri"/>
            </a:endParaRPr>
          </a:p>
        </p:txBody>
      </p:sp>
      <p:sp>
        <p:nvSpPr>
          <p:cNvPr id="135" name="Google Shape;135;p5"/>
          <p:cNvSpPr/>
          <p:nvPr/>
        </p:nvSpPr>
        <p:spPr>
          <a:xfrm>
            <a:off x="2734352" y="4078921"/>
            <a:ext cx="3738245" cy="171894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6" name="Google Shape;136;p5"/>
          <p:cNvSpPr txBox="1"/>
          <p:nvPr/>
        </p:nvSpPr>
        <p:spPr>
          <a:xfrm>
            <a:off x="2766737" y="4381816"/>
            <a:ext cx="3705860"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Calibri"/>
                <a:ea typeface="Calibri"/>
                <a:cs typeface="Calibri"/>
                <a:sym typeface="Calibri"/>
              </a:rPr>
              <a:t>View: Defines how the application’s UI will be displayed. It is a pure HTML, which decides how the UI is going to look like.​</a:t>
            </a:r>
            <a:endParaRPr sz="2000" b="1" i="0" u="none" strike="noStrike" cap="none">
              <a:solidFill>
                <a:schemeClr val="lt1"/>
              </a:solidFill>
              <a:latin typeface="Calibri"/>
              <a:ea typeface="Calibri"/>
              <a:cs typeface="Calibri"/>
              <a:sym typeface="Calibri"/>
            </a:endParaRPr>
          </a:p>
        </p:txBody>
      </p:sp>
      <p:pic>
        <p:nvPicPr>
          <p:cNvPr id="137" name="Google Shape;137;p5" descr="3530026_64605"/>
          <p:cNvPicPr preferRelativeResize="0"/>
          <p:nvPr/>
        </p:nvPicPr>
        <p:blipFill rotWithShape="1">
          <a:blip r:embed="rId3">
            <a:alphaModFix/>
          </a:blip>
          <a:srcRect/>
          <a:stretch/>
        </p:blipFill>
        <p:spPr>
          <a:xfrm>
            <a:off x="8519795" y="4665980"/>
            <a:ext cx="2710180" cy="1891030"/>
          </a:xfrm>
          <a:prstGeom prst="rect">
            <a:avLst/>
          </a:prstGeom>
          <a:noFill/>
          <a:ln>
            <a:noFill/>
          </a:ln>
        </p:spPr>
      </p:pic>
      <p:pic>
        <p:nvPicPr>
          <p:cNvPr id="138" name="Google Shape;138;p5" descr="3530026_64605"/>
          <p:cNvPicPr preferRelativeResize="0"/>
          <p:nvPr/>
        </p:nvPicPr>
        <p:blipFill rotWithShape="1">
          <a:blip r:embed="rId3">
            <a:alphaModFix/>
          </a:blip>
          <a:srcRect/>
          <a:stretch/>
        </p:blipFill>
        <p:spPr>
          <a:xfrm>
            <a:off x="9874885" y="2083723"/>
            <a:ext cx="1487170" cy="1228032"/>
          </a:xfrm>
          <a:prstGeom prst="rect">
            <a:avLst/>
          </a:prstGeom>
          <a:noFill/>
          <a:ln>
            <a:noFill/>
          </a:ln>
        </p:spPr>
      </p:pic>
      <p:pic>
        <p:nvPicPr>
          <p:cNvPr id="139" name="Google Shape;139;p5" descr="Aitrich-Logo-Transparent-BG-1536x504"/>
          <p:cNvPicPr preferRelativeResize="0"/>
          <p:nvPr/>
        </p:nvPicPr>
        <p:blipFill rotWithShape="1">
          <a:blip r:embed="rId4">
            <a:alphaModFix/>
          </a:blip>
          <a:srcRect/>
          <a:stretch/>
        </p:blipFill>
        <p:spPr>
          <a:xfrm>
            <a:off x="286385" y="6311265"/>
            <a:ext cx="1101090" cy="361315"/>
          </a:xfrm>
          <a:prstGeom prst="rect">
            <a:avLst/>
          </a:prstGeom>
          <a:noFill/>
          <a:ln>
            <a:noFill/>
          </a:ln>
        </p:spPr>
      </p:pic>
      <p:sp>
        <p:nvSpPr>
          <p:cNvPr id="140" name="Google Shape;140;p5"/>
          <p:cNvSpPr/>
          <p:nvPr/>
        </p:nvSpPr>
        <p:spPr>
          <a:xfrm>
            <a:off x="727521" y="1785620"/>
            <a:ext cx="3738245" cy="171894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 name="Google Shape;141;p5"/>
          <p:cNvSpPr txBox="1"/>
          <p:nvPr/>
        </p:nvSpPr>
        <p:spPr>
          <a:xfrm>
            <a:off x="897615" y="1874520"/>
            <a:ext cx="3705860" cy="16300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Model:</a:t>
            </a:r>
            <a:r>
              <a:rPr lang="en-US" sz="2000" b="1" i="0" u="none" strike="noStrike" cap="none">
                <a:solidFill>
                  <a:schemeClr val="lt1"/>
                </a:solidFill>
                <a:latin typeface="Calibri"/>
                <a:ea typeface="Calibri"/>
                <a:cs typeface="Calibri"/>
                <a:sym typeface="Calibri"/>
              </a:rPr>
              <a:t>	A set of classes that describes the data you are working with as well as the business logic.​</a:t>
            </a:r>
            <a:endParaRPr sz="2000" b="1"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42" name="Google Shape;142;p5"/>
          <p:cNvSpPr txBox="1"/>
          <p:nvPr/>
        </p:nvSpPr>
        <p:spPr>
          <a:xfrm>
            <a:off x="1449503" y="248263"/>
            <a:ext cx="9292994"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400" b="0" i="0" u="none" strike="noStrike" cap="none">
                <a:solidFill>
                  <a:srgbClr val="000000"/>
                </a:solidFill>
                <a:latin typeface="Arial"/>
                <a:ea typeface="Arial"/>
                <a:cs typeface="Arial"/>
                <a:sym typeface="Arial"/>
              </a:rPr>
              <a:t>COMPONENTS OF MVC</a:t>
            </a:r>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2"/>
                                        </p:tgtEl>
                                        <p:attrNameLst>
                                          <p:attrName>style.visibility</p:attrName>
                                        </p:attrNameLst>
                                      </p:cBhvr>
                                      <p:to>
                                        <p:strVal val="visible"/>
                                      </p:to>
                                    </p:set>
                                    <p:anim calcmode="lin" valueType="num">
                                      <p:cBhvr additive="base">
                                        <p:cTn id="7" dur="500"/>
                                        <p:tgtEl>
                                          <p:spTgt spid="132"/>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33"/>
                                        </p:tgtEl>
                                        <p:attrNameLst>
                                          <p:attrName>style.visibility</p:attrName>
                                        </p:attrNameLst>
                                      </p:cBhvr>
                                      <p:to>
                                        <p:strVal val="visible"/>
                                      </p:to>
                                    </p:set>
                                    <p:anim calcmode="lin" valueType="num">
                                      <p:cBhvr additive="base">
                                        <p:cTn id="10" dur="500"/>
                                        <p:tgtEl>
                                          <p:spTgt spid="133"/>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34"/>
                                        </p:tgtEl>
                                        <p:attrNameLst>
                                          <p:attrName>style.visibility</p:attrName>
                                        </p:attrNameLst>
                                      </p:cBhvr>
                                      <p:to>
                                        <p:strVal val="visible"/>
                                      </p:to>
                                    </p:set>
                                    <p:anim calcmode="lin" valueType="num">
                                      <p:cBhvr additive="base">
                                        <p:cTn id="13" dur="500"/>
                                        <p:tgtEl>
                                          <p:spTgt spid="13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5"/>
                                        </p:tgtEl>
                                        <p:attrNameLst>
                                          <p:attrName>style.visibility</p:attrName>
                                        </p:attrNameLst>
                                      </p:cBhvr>
                                      <p:to>
                                        <p:strVal val="visible"/>
                                      </p:to>
                                    </p:set>
                                    <p:anim calcmode="lin" valueType="num">
                                      <p:cBhvr additive="base">
                                        <p:cTn id="18" dur="500"/>
                                        <p:tgtEl>
                                          <p:spTgt spid="135"/>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6"/>
                                        </p:tgtEl>
                                        <p:attrNameLst>
                                          <p:attrName>style.visibility</p:attrName>
                                        </p:attrNameLst>
                                      </p:cBhvr>
                                      <p:to>
                                        <p:strVal val="visible"/>
                                      </p:to>
                                    </p:set>
                                    <p:anim calcmode="lin" valueType="num">
                                      <p:cBhvr additive="base">
                                        <p:cTn id="21" dur="500"/>
                                        <p:tgtEl>
                                          <p:spTgt spid="1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Model</a:t>
            </a:r>
            <a:endParaRPr>
              <a:solidFill>
                <a:schemeClr val="dk2"/>
              </a:solidFill>
            </a:endParaRPr>
          </a:p>
        </p:txBody>
      </p:sp>
      <p:sp>
        <p:nvSpPr>
          <p:cNvPr id="148" name="Google Shape;148;p6"/>
          <p:cNvSpPr txBox="1">
            <a:spLocks noGrp="1"/>
          </p:cNvSpPr>
          <p:nvPr>
            <p:ph type="body" idx="1"/>
          </p:nvPr>
        </p:nvSpPr>
        <p:spPr>
          <a:xfrm>
            <a:off x="435610" y="1825625"/>
            <a:ext cx="8195310" cy="4244975"/>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200"/>
              <a:buFont typeface="Noto Sans Symbols"/>
              <a:buChar char="⮚"/>
            </a:pPr>
            <a:r>
              <a:rPr lang="en-US" sz="2200"/>
              <a:t>A model is a class with .cs (for C#) as an extension having both properties and methods.  </a:t>
            </a:r>
            <a:endParaRPr sz="2200"/>
          </a:p>
          <a:p>
            <a:pPr marL="228600" lvl="0" indent="-228600" algn="l" rtl="0">
              <a:lnSpc>
                <a:spcPct val="150000"/>
              </a:lnSpc>
              <a:spcBef>
                <a:spcPts val="1000"/>
              </a:spcBef>
              <a:spcAft>
                <a:spcPts val="0"/>
              </a:spcAft>
              <a:buClr>
                <a:schemeClr val="dk1"/>
              </a:buClr>
              <a:buSzPts val="2200"/>
              <a:buFont typeface="Noto Sans Symbols"/>
              <a:buChar char="⮚"/>
            </a:pPr>
            <a:r>
              <a:rPr lang="en-US" sz="2200"/>
              <a:t> Models are used to set or get the data.</a:t>
            </a:r>
            <a:endParaRPr sz="2200"/>
          </a:p>
          <a:p>
            <a:pPr marL="228600" lvl="0" indent="-228600" algn="l" rtl="0">
              <a:lnSpc>
                <a:spcPct val="150000"/>
              </a:lnSpc>
              <a:spcBef>
                <a:spcPts val="1000"/>
              </a:spcBef>
              <a:spcAft>
                <a:spcPts val="0"/>
              </a:spcAft>
              <a:buClr>
                <a:schemeClr val="dk1"/>
              </a:buClr>
              <a:buSzPts val="2200"/>
              <a:buFont typeface="Noto Sans Symbols"/>
              <a:buChar char="⮚"/>
            </a:pPr>
            <a:r>
              <a:rPr lang="en-US" sz="2200"/>
              <a:t>If your application does not have data, then there is no need for a model. </a:t>
            </a:r>
            <a:endParaRPr sz="2200"/>
          </a:p>
          <a:p>
            <a:pPr marL="228600" lvl="0" indent="-228600" algn="l" rtl="0">
              <a:lnSpc>
                <a:spcPct val="150000"/>
              </a:lnSpc>
              <a:spcBef>
                <a:spcPts val="1000"/>
              </a:spcBef>
              <a:spcAft>
                <a:spcPts val="0"/>
              </a:spcAft>
              <a:buClr>
                <a:schemeClr val="dk1"/>
              </a:buClr>
              <a:buSzPts val="2200"/>
              <a:buFont typeface="Noto Sans Symbols"/>
              <a:buChar char="⮚"/>
            </a:pPr>
            <a:r>
              <a:rPr lang="en-US" sz="2200"/>
              <a:t>models in ASP.NET Core MVC Application are used to manage the data i.e. the state of the application in memory. </a:t>
            </a:r>
            <a:endParaRPr sz="2200"/>
          </a:p>
          <a:p>
            <a:pPr marL="0" lvl="0" indent="0" algn="l" rtl="0">
              <a:lnSpc>
                <a:spcPct val="150000"/>
              </a:lnSpc>
              <a:spcBef>
                <a:spcPts val="1000"/>
              </a:spcBef>
              <a:spcAft>
                <a:spcPts val="0"/>
              </a:spcAft>
              <a:buClr>
                <a:schemeClr val="dk1"/>
              </a:buClr>
              <a:buSzPts val="2200"/>
              <a:buFont typeface="Noto Sans Symbols"/>
              <a:buNone/>
            </a:pPr>
            <a:endParaRPr sz="2200"/>
          </a:p>
        </p:txBody>
      </p:sp>
      <p:pic>
        <p:nvPicPr>
          <p:cNvPr id="149" name="Google Shape;149;p6" descr="Aitrich-Logo-Transparent-BG-1536x504"/>
          <p:cNvPicPr preferRelativeResize="0">
            <a:picLocks noGrp="1"/>
          </p:cNvPicPr>
          <p:nvPr>
            <p:ph type="body" idx="2"/>
          </p:nvPr>
        </p:nvPicPr>
        <p:blipFill rotWithShape="1">
          <a:blip r:embed="rId3">
            <a:alphaModFix/>
          </a:blip>
          <a:srcRect/>
          <a:stretch/>
        </p:blipFill>
        <p:spPr>
          <a:xfrm>
            <a:off x="286385" y="6311265"/>
            <a:ext cx="1101090" cy="361315"/>
          </a:xfrm>
          <a:prstGeom prst="rect">
            <a:avLst/>
          </a:prstGeom>
          <a:noFill/>
          <a:ln>
            <a:noFill/>
          </a:ln>
        </p:spPr>
      </p:pic>
      <p:pic>
        <p:nvPicPr>
          <p:cNvPr id="150" name="Google Shape;150;p6" descr="8850059_4022440"/>
          <p:cNvPicPr preferRelativeResize="0"/>
          <p:nvPr/>
        </p:nvPicPr>
        <p:blipFill rotWithShape="1">
          <a:blip r:embed="rId4">
            <a:alphaModFix/>
          </a:blip>
          <a:srcRect/>
          <a:stretch/>
        </p:blipFill>
        <p:spPr>
          <a:xfrm>
            <a:off x="8309610" y="1825625"/>
            <a:ext cx="3882390" cy="4399280"/>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anim calcmode="lin" valueType="num">
                                      <p:cBhvr additive="base">
                                        <p:cTn id="7" dur="500"/>
                                        <p:tgtEl>
                                          <p:spTgt spid="14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8">
                                            <p:txEl>
                                              <p:pRg st="1" end="1"/>
                                            </p:txEl>
                                          </p:spTgt>
                                        </p:tgtEl>
                                        <p:attrNameLst>
                                          <p:attrName>style.visibility</p:attrName>
                                        </p:attrNameLst>
                                      </p:cBhvr>
                                      <p:to>
                                        <p:strVal val="visible"/>
                                      </p:to>
                                    </p:set>
                                    <p:anim calcmode="lin" valueType="num">
                                      <p:cBhvr additive="base">
                                        <p:cTn id="12" dur="500"/>
                                        <p:tgtEl>
                                          <p:spTgt spid="14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8">
                                            <p:txEl>
                                              <p:pRg st="2" end="2"/>
                                            </p:txEl>
                                          </p:spTgt>
                                        </p:tgtEl>
                                        <p:attrNameLst>
                                          <p:attrName>style.visibility</p:attrName>
                                        </p:attrNameLst>
                                      </p:cBhvr>
                                      <p:to>
                                        <p:strVal val="visible"/>
                                      </p:to>
                                    </p:set>
                                    <p:anim calcmode="lin" valueType="num">
                                      <p:cBhvr additive="base">
                                        <p:cTn id="17" dur="500"/>
                                        <p:tgtEl>
                                          <p:spTgt spid="14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8">
                                            <p:txEl>
                                              <p:pRg st="3" end="3"/>
                                            </p:txEl>
                                          </p:spTgt>
                                        </p:tgtEl>
                                        <p:attrNameLst>
                                          <p:attrName>style.visibility</p:attrName>
                                        </p:attrNameLst>
                                      </p:cBhvr>
                                      <p:to>
                                        <p:strVal val="visible"/>
                                      </p:to>
                                    </p:set>
                                    <p:anim calcmode="lin" valueType="num">
                                      <p:cBhvr additive="base">
                                        <p:cTn id="22" dur="500"/>
                                        <p:tgtEl>
                                          <p:spTgt spid="14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8">
                                            <p:txEl>
                                              <p:pRg st="4" end="4"/>
                                            </p:txEl>
                                          </p:spTgt>
                                        </p:tgtEl>
                                        <p:attrNameLst>
                                          <p:attrName>style.visibility</p:attrName>
                                        </p:attrNameLst>
                                      </p:cBhvr>
                                      <p:to>
                                        <p:strVal val="visible"/>
                                      </p:to>
                                    </p:set>
                                    <p:anim calcmode="lin" valueType="num">
                                      <p:cBhvr additive="base">
                                        <p:cTn id="27" dur="500"/>
                                        <p:tgtEl>
                                          <p:spTgt spid="14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6" name="Google Shape;156;p7" descr="Aitrich-Logo-Transparent-BG-1536x504"/>
          <p:cNvPicPr preferRelativeResize="0"/>
          <p:nvPr/>
        </p:nvPicPr>
        <p:blipFill rotWithShape="1">
          <a:blip r:embed="rId3">
            <a:alphaModFix/>
          </a:blip>
          <a:srcRect/>
          <a:stretch/>
        </p:blipFill>
        <p:spPr>
          <a:xfrm>
            <a:off x="316865" y="6327140"/>
            <a:ext cx="1101090" cy="361315"/>
          </a:xfrm>
          <a:prstGeom prst="rect">
            <a:avLst/>
          </a:prstGeom>
          <a:noFill/>
          <a:ln>
            <a:noFill/>
          </a:ln>
        </p:spPr>
      </p:pic>
      <p:sp>
        <p:nvSpPr>
          <p:cNvPr id="158" name="Google Shape;158;p7"/>
          <p:cNvSpPr txBox="1"/>
          <p:nvPr/>
        </p:nvSpPr>
        <p:spPr>
          <a:xfrm>
            <a:off x="1246909" y="727364"/>
            <a:ext cx="8310476" cy="361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2D8B128E-EEA4-4901-A7E2-C2BF36CEE2CF}"/>
              </a:ext>
            </a:extLst>
          </p:cNvPr>
          <p:cNvPicPr>
            <a:picLocks noChangeAspect="1"/>
          </p:cNvPicPr>
          <p:nvPr/>
        </p:nvPicPr>
        <p:blipFill>
          <a:blip r:embed="rId4"/>
          <a:stretch>
            <a:fillRect/>
          </a:stretch>
        </p:blipFill>
        <p:spPr>
          <a:xfrm>
            <a:off x="782321" y="335280"/>
            <a:ext cx="10688320" cy="5991860"/>
          </a:xfrm>
          <a:prstGeom prst="rect">
            <a:avLst/>
          </a:prstGeom>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ASP.NET Core Dependency Injection</a:t>
            </a:r>
            <a:endParaRPr>
              <a:solidFill>
                <a:schemeClr val="dk2"/>
              </a:solidFill>
            </a:endParaRPr>
          </a:p>
        </p:txBody>
      </p:sp>
      <p:sp>
        <p:nvSpPr>
          <p:cNvPr id="164" name="Google Shape;164;p8"/>
          <p:cNvSpPr/>
          <p:nvPr/>
        </p:nvSpPr>
        <p:spPr>
          <a:xfrm>
            <a:off x="834390" y="1691005"/>
            <a:ext cx="3930015" cy="134620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8"/>
          <p:cNvSpPr txBox="1"/>
          <p:nvPr/>
        </p:nvSpPr>
        <p:spPr>
          <a:xfrm>
            <a:off x="1007745" y="1808480"/>
            <a:ext cx="3450590" cy="10147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process of injecting the object of a class into a class that depends on it. </a:t>
            </a:r>
            <a:endParaRPr sz="2000" b="0" i="0" u="none" strike="noStrike" cap="none">
              <a:solidFill>
                <a:schemeClr val="lt1"/>
              </a:solidFill>
              <a:latin typeface="Calibri"/>
              <a:ea typeface="Calibri"/>
              <a:cs typeface="Calibri"/>
              <a:sym typeface="Calibri"/>
            </a:endParaRPr>
          </a:p>
        </p:txBody>
      </p:sp>
      <p:pic>
        <p:nvPicPr>
          <p:cNvPr id="166" name="Google Shape;166;p8" descr="Dependency injection"/>
          <p:cNvPicPr preferRelativeResize="0">
            <a:picLocks noGrp="1"/>
          </p:cNvPicPr>
          <p:nvPr>
            <p:ph type="body" idx="1"/>
          </p:nvPr>
        </p:nvPicPr>
        <p:blipFill rotWithShape="1">
          <a:blip r:embed="rId3">
            <a:alphaModFix/>
          </a:blip>
          <a:srcRect/>
          <a:stretch/>
        </p:blipFill>
        <p:spPr>
          <a:xfrm>
            <a:off x="5596890" y="2276475"/>
            <a:ext cx="4667250" cy="2552700"/>
          </a:xfrm>
          <a:prstGeom prst="rect">
            <a:avLst/>
          </a:prstGeom>
          <a:noFill/>
          <a:ln>
            <a:noFill/>
          </a:ln>
        </p:spPr>
      </p:pic>
      <p:sp>
        <p:nvSpPr>
          <p:cNvPr id="167" name="Google Shape;167;p8"/>
          <p:cNvSpPr/>
          <p:nvPr/>
        </p:nvSpPr>
        <p:spPr>
          <a:xfrm>
            <a:off x="834390" y="3249295"/>
            <a:ext cx="3929380" cy="266509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8" name="Google Shape;168;p8"/>
          <p:cNvSpPr txBox="1"/>
          <p:nvPr/>
        </p:nvSpPr>
        <p:spPr>
          <a:xfrm>
            <a:off x="1007745" y="3458192"/>
            <a:ext cx="3756600" cy="224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The Dependency Injection is the most commonly used design pattern nowadays to the dependencies between the objects that allow us to develop loosely coupled software components.</a:t>
            </a:r>
            <a:endParaRPr sz="2000" b="0" i="0" u="none" strike="noStrike" cap="none">
              <a:solidFill>
                <a:schemeClr val="lt1"/>
              </a:solidFill>
              <a:latin typeface="Calibri"/>
              <a:ea typeface="Calibri"/>
              <a:cs typeface="Calibri"/>
              <a:sym typeface="Calibri"/>
            </a:endParaRPr>
          </a:p>
        </p:txBody>
      </p:sp>
      <p:pic>
        <p:nvPicPr>
          <p:cNvPr id="169" name="Google Shape;169;p8" descr="Aitrich-Logo-Transparent-BG-1536x504"/>
          <p:cNvPicPr preferRelativeResize="0"/>
          <p:nvPr/>
        </p:nvPicPr>
        <p:blipFill rotWithShape="1">
          <a:blip r:embed="rId4">
            <a:alphaModFix/>
          </a:blip>
          <a:srcRect/>
          <a:stretch/>
        </p:blipFill>
        <p:spPr>
          <a:xfrm>
            <a:off x="286385" y="6311265"/>
            <a:ext cx="1101090" cy="36131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additive="base">
                                        <p:cTn id="7" dur="500"/>
                                        <p:tgtEl>
                                          <p:spTgt spid="16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64"/>
                                        </p:tgtEl>
                                        <p:attrNameLst>
                                          <p:attrName>style.visibility</p:attrName>
                                        </p:attrNameLst>
                                      </p:cBhvr>
                                      <p:to>
                                        <p:strVal val="visible"/>
                                      </p:to>
                                    </p:set>
                                    <p:anim calcmode="lin" valueType="num">
                                      <p:cBhvr additive="base">
                                        <p:cTn id="10" dur="500"/>
                                        <p:tgtEl>
                                          <p:spTgt spid="164"/>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7"/>
                                        </p:tgtEl>
                                        <p:attrNameLst>
                                          <p:attrName>style.visibility</p:attrName>
                                        </p:attrNameLst>
                                      </p:cBhvr>
                                      <p:to>
                                        <p:strVal val="visible"/>
                                      </p:to>
                                    </p:set>
                                    <p:anim calcmode="lin" valueType="num">
                                      <p:cBhvr additive="base">
                                        <p:cTn id="15" dur="500"/>
                                        <p:tgtEl>
                                          <p:spTgt spid="167"/>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68"/>
                                        </p:tgtEl>
                                        <p:attrNameLst>
                                          <p:attrName>style.visibility</p:attrName>
                                        </p:attrNameLst>
                                      </p:cBhvr>
                                      <p:to>
                                        <p:strVal val="visible"/>
                                      </p:to>
                                    </p:set>
                                    <p:anim calcmode="lin" valueType="num">
                                      <p:cBhvr additive="base">
                                        <p:cTn id="18" dur="500"/>
                                        <p:tgtEl>
                                          <p:spTgt spid="1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type="body" idx="1"/>
          </p:nvPr>
        </p:nvSpPr>
        <p:spPr>
          <a:xfrm>
            <a:off x="838200" y="558165"/>
            <a:ext cx="10395585" cy="5619115"/>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chemeClr val="dk1"/>
              </a:buClr>
              <a:buSzPts val="2220"/>
              <a:buNone/>
            </a:pPr>
            <a:endParaRPr sz="2220"/>
          </a:p>
          <a:p>
            <a:pPr marL="0" lvl="0" indent="0" algn="l" rtl="0">
              <a:lnSpc>
                <a:spcPct val="90000"/>
              </a:lnSpc>
              <a:spcBef>
                <a:spcPts val="1000"/>
              </a:spcBef>
              <a:spcAft>
                <a:spcPts val="0"/>
              </a:spcAft>
              <a:buClr>
                <a:schemeClr val="dk1"/>
              </a:buClr>
              <a:buSzPts val="2800"/>
              <a:buNone/>
            </a:pPr>
            <a:r>
              <a:rPr lang="en-US" b="1"/>
              <a:t>Types of Services in ASP.NET Core:</a:t>
            </a: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	</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250"/>
              <a:buNone/>
            </a:pPr>
            <a:endParaRPr sz="2250"/>
          </a:p>
          <a:p>
            <a:pPr marL="0" lvl="0" indent="0" algn="l" rtl="0">
              <a:lnSpc>
                <a:spcPct val="130000"/>
              </a:lnSpc>
              <a:spcBef>
                <a:spcPts val="1000"/>
              </a:spcBef>
              <a:spcAft>
                <a:spcPts val="0"/>
              </a:spcAft>
              <a:buClr>
                <a:schemeClr val="dk1"/>
              </a:buClr>
              <a:buSzPts val="2250"/>
              <a:buNone/>
            </a:pPr>
            <a:r>
              <a:rPr lang="en-US" sz="2250"/>
              <a:t>In order to let the IoC container automatically inject our application services, we first need to register them with the IoC container</a:t>
            </a:r>
            <a:endParaRPr sz="2250"/>
          </a:p>
        </p:txBody>
      </p:sp>
      <p:sp>
        <p:nvSpPr>
          <p:cNvPr id="175" name="Google Shape;175;p9"/>
          <p:cNvSpPr/>
          <p:nvPr/>
        </p:nvSpPr>
        <p:spPr>
          <a:xfrm>
            <a:off x="1035685" y="2005647"/>
            <a:ext cx="4578985" cy="179387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 name="Google Shape;176;p9"/>
          <p:cNvSpPr/>
          <p:nvPr/>
        </p:nvSpPr>
        <p:spPr>
          <a:xfrm>
            <a:off x="6839585" y="2005647"/>
            <a:ext cx="4316730" cy="179324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7" name="Google Shape;177;p9"/>
          <p:cNvSpPr txBox="1"/>
          <p:nvPr/>
        </p:nvSpPr>
        <p:spPr>
          <a:xfrm>
            <a:off x="1035685" y="2144712"/>
            <a:ext cx="4578985" cy="16300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Framework Services:</a:t>
            </a:r>
            <a:r>
              <a:rPr lang="en-US" sz="2000" b="0" i="0" u="none" strike="noStrike" cap="none">
                <a:solidFill>
                  <a:schemeClr val="lt1"/>
                </a:solidFill>
                <a:latin typeface="Calibri"/>
                <a:ea typeface="Calibri"/>
                <a:cs typeface="Calibri"/>
                <a:sym typeface="Calibri"/>
              </a:rPr>
              <a:t>Services that are a part of the ASP.NET Core framework such as IApplicationBuilder, IHostingEnvironment, ILoggerFactory, etc.</a:t>
            </a:r>
            <a:endParaRPr sz="2000" b="0"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sp>
        <p:nvSpPr>
          <p:cNvPr id="178" name="Google Shape;178;p9"/>
          <p:cNvSpPr txBox="1"/>
          <p:nvPr/>
        </p:nvSpPr>
        <p:spPr>
          <a:xfrm>
            <a:off x="6840220" y="2206942"/>
            <a:ext cx="4215130"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Application Services:</a:t>
            </a:r>
            <a:r>
              <a:rPr lang="en-US" sz="2000" b="0" i="0" u="none" strike="noStrike" cap="none">
                <a:solidFill>
                  <a:schemeClr val="dk1"/>
                </a:solidFill>
                <a:latin typeface="Calibri"/>
                <a:ea typeface="Calibri"/>
                <a:cs typeface="Calibri"/>
                <a:sym typeface="Calibri"/>
              </a:rPr>
              <a:t> </a:t>
            </a:r>
            <a:r>
              <a:rPr lang="en-US" sz="2000" b="0" i="0" u="none" strike="noStrike" cap="none">
                <a:solidFill>
                  <a:schemeClr val="lt1"/>
                </a:solidFill>
                <a:latin typeface="Calibri"/>
                <a:ea typeface="Calibri"/>
                <a:cs typeface="Calibri"/>
                <a:sym typeface="Calibri"/>
              </a:rPr>
              <a:t>The services (custom types or classes) which you as a programmer create for your application.</a:t>
            </a:r>
            <a:endParaRPr sz="20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 calcmode="lin" valueType="num">
                                      <p:cBhvr additive="base">
                                        <p:cTn id="7" dur="500"/>
                                        <p:tgtEl>
                                          <p:spTgt spid="177"/>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75"/>
                                        </p:tgtEl>
                                        <p:attrNameLst>
                                          <p:attrName>style.visibility</p:attrName>
                                        </p:attrNameLst>
                                      </p:cBhvr>
                                      <p:to>
                                        <p:strVal val="visible"/>
                                      </p:to>
                                    </p:set>
                                    <p:anim calcmode="lin" valueType="num">
                                      <p:cBhvr additive="base">
                                        <p:cTn id="10" dur="500"/>
                                        <p:tgtEl>
                                          <p:spTgt spid="175"/>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78"/>
                                        </p:tgtEl>
                                        <p:attrNameLst>
                                          <p:attrName>style.visibility</p:attrName>
                                        </p:attrNameLst>
                                      </p:cBhvr>
                                      <p:to>
                                        <p:strVal val="visible"/>
                                      </p:to>
                                    </p:set>
                                    <p:anim calcmode="lin" valueType="num">
                                      <p:cBhvr additive="base">
                                        <p:cTn id="15" dur="500"/>
                                        <p:tgtEl>
                                          <p:spTgt spid="178"/>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76"/>
                                        </p:tgtEl>
                                        <p:attrNameLst>
                                          <p:attrName>style.visibility</p:attrName>
                                        </p:attrNameLst>
                                      </p:cBhvr>
                                      <p:to>
                                        <p:strVal val="visible"/>
                                      </p:to>
                                    </p:set>
                                    <p:anim calcmode="lin" valueType="num">
                                      <p:cBhvr additive="base">
                                        <p:cTn id="18" dur="500"/>
                                        <p:tgtEl>
                                          <p:spTgt spid="1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How to register a Service with ASP.NET Core Dependency Injection Container?</a:t>
            </a:r>
            <a:endParaRPr>
              <a:solidFill>
                <a:schemeClr val="dk2"/>
              </a:solidFill>
            </a:endParaRPr>
          </a:p>
        </p:txBody>
      </p:sp>
      <p:sp>
        <p:nvSpPr>
          <p:cNvPr id="184" name="Google Shape;184;p10"/>
          <p:cNvSpPr txBox="1">
            <a:spLocks noGrp="1"/>
          </p:cNvSpPr>
          <p:nvPr>
            <p:ph type="body" idx="1"/>
          </p:nvPr>
        </p:nvSpPr>
        <p:spPr>
          <a:xfrm>
            <a:off x="838200" y="1825625"/>
            <a:ext cx="9928860" cy="4351655"/>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250"/>
              <a:buChar char="•"/>
            </a:pPr>
            <a:r>
              <a:rPr lang="en-US" sz="2250"/>
              <a:t>We need to register a service with ASP.NET Core Dependency Injection Container within the ConfigureServices() method of the Startup class.</a:t>
            </a:r>
            <a:endParaRPr sz="2250"/>
          </a:p>
          <a:p>
            <a:pPr marL="228600" lvl="0" indent="-101600" algn="l" rtl="0">
              <a:lnSpc>
                <a:spcPct val="110000"/>
              </a:lnSpc>
              <a:spcBef>
                <a:spcPts val="1000"/>
              </a:spcBef>
              <a:spcAft>
                <a:spcPts val="0"/>
              </a:spcAft>
              <a:buClr>
                <a:schemeClr val="dk1"/>
              </a:buClr>
              <a:buSzPts val="2000"/>
              <a:buNone/>
            </a:pPr>
            <a:endParaRPr sz="2000"/>
          </a:p>
          <a:p>
            <a:pPr marL="457200" lvl="1" indent="0" algn="l" rtl="0">
              <a:lnSpc>
                <a:spcPct val="90000"/>
              </a:lnSpc>
              <a:spcBef>
                <a:spcPts val="500"/>
              </a:spcBef>
              <a:spcAft>
                <a:spcPts val="0"/>
              </a:spcAft>
              <a:buClr>
                <a:schemeClr val="dk1"/>
              </a:buClr>
              <a:buSzPts val="2000"/>
              <a:buNone/>
            </a:pPr>
            <a:endParaRPr sz="2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a:p>
            <a:pPr marL="457200" lvl="1" indent="0" algn="l" rtl="0">
              <a:lnSpc>
                <a:spcPct val="90000"/>
              </a:lnSpc>
              <a:spcBef>
                <a:spcPts val="500"/>
              </a:spcBef>
              <a:spcAft>
                <a:spcPts val="0"/>
              </a:spcAft>
              <a:buClr>
                <a:schemeClr val="dk1"/>
              </a:buClr>
              <a:buSzPts val="4000"/>
              <a:buNone/>
            </a:pPr>
            <a:endParaRPr sz="4000"/>
          </a:p>
        </p:txBody>
      </p:sp>
      <p:sp>
        <p:nvSpPr>
          <p:cNvPr id="185" name="Google Shape;185;p10"/>
          <p:cNvSpPr/>
          <p:nvPr/>
        </p:nvSpPr>
        <p:spPr>
          <a:xfrm>
            <a:off x="1127760" y="2736215"/>
            <a:ext cx="10086975" cy="98996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6" name="Google Shape;186;p10"/>
          <p:cNvSpPr txBox="1"/>
          <p:nvPr/>
        </p:nvSpPr>
        <p:spPr>
          <a:xfrm>
            <a:off x="1127760" y="2877820"/>
            <a:ext cx="9886315" cy="706755"/>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Singleton:</a:t>
            </a:r>
            <a:r>
              <a:rPr lang="en-US" sz="2000" b="0" i="0" u="none" strike="noStrike" cap="none">
                <a:solidFill>
                  <a:schemeClr val="dk1"/>
                </a:solidFill>
                <a:latin typeface="Calibri"/>
                <a:ea typeface="Calibri"/>
                <a:cs typeface="Calibri"/>
                <a:sym typeface="Calibri"/>
              </a:rPr>
              <a:t> </a:t>
            </a:r>
            <a:r>
              <a:rPr lang="en-US" sz="2000" b="0" i="0" u="none" strike="noStrike" cap="none">
                <a:solidFill>
                  <a:schemeClr val="lt1"/>
                </a:solidFill>
                <a:latin typeface="Calibri"/>
                <a:ea typeface="Calibri"/>
                <a:cs typeface="Calibri"/>
                <a:sym typeface="Calibri"/>
              </a:rPr>
              <a:t>In this case, the IoC container will create and share a single instance of a service object throughout the application’s lifetime.</a:t>
            </a:r>
            <a:endParaRPr sz="2000" b="0" i="0" u="none" strike="noStrike" cap="none">
              <a:solidFill>
                <a:schemeClr val="lt1"/>
              </a:solidFill>
              <a:latin typeface="Calibri"/>
              <a:ea typeface="Calibri"/>
              <a:cs typeface="Calibri"/>
              <a:sym typeface="Calibri"/>
            </a:endParaRPr>
          </a:p>
        </p:txBody>
      </p:sp>
      <p:sp>
        <p:nvSpPr>
          <p:cNvPr id="187" name="Google Shape;187;p10"/>
          <p:cNvSpPr/>
          <p:nvPr/>
        </p:nvSpPr>
        <p:spPr>
          <a:xfrm>
            <a:off x="1136650" y="3923030"/>
            <a:ext cx="10086975" cy="85280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8" name="Google Shape;188;p10"/>
          <p:cNvSpPr txBox="1"/>
          <p:nvPr/>
        </p:nvSpPr>
        <p:spPr>
          <a:xfrm>
            <a:off x="1505585" y="3911600"/>
            <a:ext cx="9190355" cy="1014730"/>
          </a:xfrm>
          <a:prstGeom prst="rect">
            <a:avLst/>
          </a:prstGeom>
          <a:noFill/>
          <a:ln>
            <a:noFill/>
          </a:ln>
        </p:spPr>
        <p:txBody>
          <a:bodyPr spcFirstLastPara="1" wrap="square" lIns="91425" tIns="45700" rIns="91425" bIns="45700" anchor="t" anchorCtr="0">
            <a:spAutoFit/>
          </a:bodyPr>
          <a:lstStyle/>
          <a:p>
            <a:pPr marL="0" marR="0" lvl="1"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Transient:</a:t>
            </a:r>
            <a:r>
              <a:rPr lang="en-US" sz="2000" b="1" i="0" u="none" strike="noStrike" cap="none">
                <a:solidFill>
                  <a:schemeClr val="lt1"/>
                </a:solidFill>
                <a:latin typeface="Calibri"/>
                <a:ea typeface="Calibri"/>
                <a:cs typeface="Calibri"/>
                <a:sym typeface="Calibri"/>
              </a:rPr>
              <a:t> </a:t>
            </a:r>
            <a:r>
              <a:rPr lang="en-US" sz="2000" b="0" i="0" u="none" strike="noStrike" cap="none">
                <a:solidFill>
                  <a:schemeClr val="lt1"/>
                </a:solidFill>
                <a:latin typeface="Calibri"/>
                <a:ea typeface="Calibri"/>
                <a:cs typeface="Calibri"/>
                <a:sym typeface="Calibri"/>
              </a:rPr>
              <a:t>In this case, the IoC container will create a new instance of the specified service type every time you ask for it.</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89" name="Google Shape;189;p10"/>
          <p:cNvSpPr/>
          <p:nvPr/>
        </p:nvSpPr>
        <p:spPr>
          <a:xfrm>
            <a:off x="1136650" y="4991100"/>
            <a:ext cx="10086975" cy="98996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0" name="Google Shape;190;p10"/>
          <p:cNvSpPr txBox="1"/>
          <p:nvPr/>
        </p:nvSpPr>
        <p:spPr>
          <a:xfrm>
            <a:off x="980440" y="5111750"/>
            <a:ext cx="10033000" cy="706755"/>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Scoped: </a:t>
            </a:r>
            <a:r>
              <a:rPr lang="en-US" sz="2000" b="0" i="0" u="none" strike="noStrike" cap="none">
                <a:solidFill>
                  <a:schemeClr val="lt1"/>
                </a:solidFill>
                <a:latin typeface="Calibri"/>
                <a:ea typeface="Calibri"/>
                <a:cs typeface="Calibri"/>
                <a:sym typeface="Calibri"/>
              </a:rPr>
              <a:t>In this case, the IoC container will create an instance of the specified service type once per request and will be shared in a single request.</a:t>
            </a:r>
            <a:endParaRPr sz="2000" b="0" i="0" u="none" strike="noStrike" cap="none">
              <a:solidFill>
                <a:schemeClr val="lt1"/>
              </a:solidFill>
              <a:latin typeface="Calibri"/>
              <a:ea typeface="Calibri"/>
              <a:cs typeface="Calibri"/>
              <a:sym typeface="Calibri"/>
            </a:endParaRPr>
          </a:p>
        </p:txBody>
      </p:sp>
      <p:pic>
        <p:nvPicPr>
          <p:cNvPr id="191" name="Google Shape;191;p10" descr="Aitrich-Logo-Transparent-BG-1536x504"/>
          <p:cNvPicPr preferRelativeResize="0"/>
          <p:nvPr/>
        </p:nvPicPr>
        <p:blipFill rotWithShape="1">
          <a:blip r:embed="rId3">
            <a:alphaModFix/>
          </a:blip>
          <a:srcRect/>
          <a:stretch/>
        </p:blipFill>
        <p:spPr>
          <a:xfrm>
            <a:off x="332740" y="6298565"/>
            <a:ext cx="1101090" cy="361315"/>
          </a:xfrm>
          <a:prstGeom prst="rect">
            <a:avLst/>
          </a:prstGeom>
          <a:noFill/>
          <a:ln>
            <a:noFill/>
          </a:ln>
        </p:spPr>
      </p:pic>
      <p:pic>
        <p:nvPicPr>
          <p:cNvPr id="192" name="Google Shape;192;p10" descr="Aitrich-Logo-Transparent-BG-1536x504"/>
          <p:cNvPicPr preferRelativeResize="0"/>
          <p:nvPr/>
        </p:nvPicPr>
        <p:blipFill rotWithShape="1">
          <a:blip r:embed="rId3">
            <a:alphaModFix/>
          </a:blip>
          <a:srcRect/>
          <a:stretch/>
        </p:blipFill>
        <p:spPr>
          <a:xfrm>
            <a:off x="341630" y="6292215"/>
            <a:ext cx="1101090" cy="361315"/>
          </a:xfrm>
          <a:prstGeom prst="rect">
            <a:avLst/>
          </a:prstGeom>
          <a:noFill/>
          <a:ln>
            <a:noFill/>
          </a:ln>
        </p:spPr>
      </p:pic>
      <p:sp>
        <p:nvSpPr>
          <p:cNvPr id="193" name="Google Shape;193;p10"/>
          <p:cNvSpPr txBox="1"/>
          <p:nvPr/>
        </p:nvSpPr>
        <p:spPr>
          <a:xfrm>
            <a:off x="1127760" y="2880360"/>
            <a:ext cx="9886315" cy="706755"/>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Singleton:</a:t>
            </a:r>
            <a:r>
              <a:rPr lang="en-US" sz="2000" b="0" i="0" u="none" strike="noStrike" cap="none">
                <a:solidFill>
                  <a:schemeClr val="dk1"/>
                </a:solidFill>
                <a:latin typeface="Calibri"/>
                <a:ea typeface="Calibri"/>
                <a:cs typeface="Calibri"/>
                <a:sym typeface="Calibri"/>
              </a:rPr>
              <a:t> </a:t>
            </a:r>
            <a:r>
              <a:rPr lang="en-US" sz="2000" b="0" i="0" u="none" strike="noStrike" cap="none">
                <a:solidFill>
                  <a:schemeClr val="lt1"/>
                </a:solidFill>
                <a:latin typeface="Calibri"/>
                <a:ea typeface="Calibri"/>
                <a:cs typeface="Calibri"/>
                <a:sym typeface="Calibri"/>
              </a:rPr>
              <a:t>In this case, the IoC container will create and share a single instance of a service object throughout the application’s lifetime.</a:t>
            </a:r>
            <a:endParaRPr sz="20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85"/>
                                        </p:tgtEl>
                                        <p:attrNameLst>
                                          <p:attrName>style.visibility</p:attrName>
                                        </p:attrNameLst>
                                      </p:cBhvr>
                                      <p:to>
                                        <p:strVal val="visible"/>
                                      </p:to>
                                    </p:set>
                                    <p:anim calcmode="lin" valueType="num">
                                      <p:cBhvr additive="base">
                                        <p:cTn id="10" dur="500"/>
                                        <p:tgtEl>
                                          <p:spTgt spid="185"/>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88"/>
                                        </p:tgtEl>
                                        <p:attrNameLst>
                                          <p:attrName>style.visibility</p:attrName>
                                        </p:attrNameLst>
                                      </p:cBhvr>
                                      <p:to>
                                        <p:strVal val="visible"/>
                                      </p:to>
                                    </p:set>
                                    <p:anim calcmode="lin" valueType="num">
                                      <p:cBhvr additive="base">
                                        <p:cTn id="15" dur="500"/>
                                        <p:tgtEl>
                                          <p:spTgt spid="188"/>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87"/>
                                        </p:tgtEl>
                                        <p:attrNameLst>
                                          <p:attrName>style.visibility</p:attrName>
                                        </p:attrNameLst>
                                      </p:cBhvr>
                                      <p:to>
                                        <p:strVal val="visible"/>
                                      </p:to>
                                    </p:set>
                                    <p:anim calcmode="lin" valueType="num">
                                      <p:cBhvr additive="base">
                                        <p:cTn id="18" dur="500"/>
                                        <p:tgtEl>
                                          <p:spTgt spid="187"/>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0"/>
                                        </p:tgtEl>
                                        <p:attrNameLst>
                                          <p:attrName>style.visibility</p:attrName>
                                        </p:attrNameLst>
                                      </p:cBhvr>
                                      <p:to>
                                        <p:strVal val="visible"/>
                                      </p:to>
                                    </p:set>
                                    <p:anim calcmode="lin" valueType="num">
                                      <p:cBhvr additive="base">
                                        <p:cTn id="23" dur="500"/>
                                        <p:tgtEl>
                                          <p:spTgt spid="190"/>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89"/>
                                        </p:tgtEl>
                                        <p:attrNameLst>
                                          <p:attrName>style.visibility</p:attrName>
                                        </p:attrNameLst>
                                      </p:cBhvr>
                                      <p:to>
                                        <p:strVal val="visible"/>
                                      </p:to>
                                    </p:set>
                                    <p:anim calcmode="lin" valueType="num">
                                      <p:cBhvr additive="base">
                                        <p:cTn id="26" dur="500"/>
                                        <p:tgtEl>
                                          <p:spTgt spid="1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Controller</a:t>
            </a:r>
            <a:endParaRPr/>
          </a:p>
        </p:txBody>
      </p:sp>
      <p:sp>
        <p:nvSpPr>
          <p:cNvPr id="199" name="Google Shape;199;p11"/>
          <p:cNvSpPr/>
          <p:nvPr/>
        </p:nvSpPr>
        <p:spPr>
          <a:xfrm>
            <a:off x="556260" y="1920240"/>
            <a:ext cx="3155950" cy="165544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 name="Google Shape;200;p11"/>
          <p:cNvSpPr/>
          <p:nvPr/>
        </p:nvSpPr>
        <p:spPr>
          <a:xfrm>
            <a:off x="556260" y="4196715"/>
            <a:ext cx="3155950" cy="165544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p11"/>
          <p:cNvSpPr txBox="1"/>
          <p:nvPr/>
        </p:nvSpPr>
        <p:spPr>
          <a:xfrm>
            <a:off x="730250" y="2028190"/>
            <a:ext cx="2889250"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A Controller is a .cs (for C# language) file which has some methods called Action Methods.</a:t>
            </a:r>
            <a:endParaRPr sz="2000" b="0" i="0" u="none" strike="noStrike" cap="none">
              <a:solidFill>
                <a:schemeClr val="lt1"/>
              </a:solidFill>
              <a:latin typeface="Calibri"/>
              <a:ea typeface="Calibri"/>
              <a:cs typeface="Calibri"/>
              <a:sym typeface="Calibri"/>
            </a:endParaRPr>
          </a:p>
        </p:txBody>
      </p:sp>
      <p:sp>
        <p:nvSpPr>
          <p:cNvPr id="202" name="Google Shape;202;p11"/>
          <p:cNvSpPr txBox="1"/>
          <p:nvPr/>
        </p:nvSpPr>
        <p:spPr>
          <a:xfrm>
            <a:off x="730250" y="4196715"/>
            <a:ext cx="2750185" cy="16300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 </a:t>
            </a:r>
            <a:r>
              <a:rPr lang="en-US" sz="2000" b="0" i="0" u="none" strike="noStrike" cap="none">
                <a:solidFill>
                  <a:schemeClr val="lt1"/>
                </a:solidFill>
                <a:latin typeface="Calibri"/>
                <a:ea typeface="Calibri"/>
                <a:cs typeface="Calibri"/>
                <a:sym typeface="Calibri"/>
              </a:rPr>
              <a:t>When a request comes on the controller, it is the action method of the controller which will handle those requests.</a:t>
            </a:r>
            <a:endParaRPr sz="2000" b="0" i="0" u="none" strike="noStrike" cap="none">
              <a:solidFill>
                <a:schemeClr val="lt1"/>
              </a:solidFill>
              <a:latin typeface="Calibri"/>
              <a:ea typeface="Calibri"/>
              <a:cs typeface="Calibri"/>
              <a:sym typeface="Calibri"/>
            </a:endParaRPr>
          </a:p>
        </p:txBody>
      </p:sp>
      <p:pic>
        <p:nvPicPr>
          <p:cNvPr id="203" name="Google Shape;203;p11" descr="Aitrich-Logo-Transparent-BG-1536x504"/>
          <p:cNvPicPr preferRelativeResize="0"/>
          <p:nvPr/>
        </p:nvPicPr>
        <p:blipFill rotWithShape="1">
          <a:blip r:embed="rId3">
            <a:alphaModFix/>
          </a:blip>
          <a:srcRect/>
          <a:stretch/>
        </p:blipFill>
        <p:spPr>
          <a:xfrm>
            <a:off x="316865" y="6327140"/>
            <a:ext cx="1101090" cy="361315"/>
          </a:xfrm>
          <a:prstGeom prst="rect">
            <a:avLst/>
          </a:prstGeom>
          <a:noFill/>
          <a:ln>
            <a:noFill/>
          </a:ln>
        </p:spPr>
      </p:pic>
      <p:sp>
        <p:nvSpPr>
          <p:cNvPr id="206" name="Google Shape;206;p11"/>
          <p:cNvSpPr txBox="1"/>
          <p:nvPr/>
        </p:nvSpPr>
        <p:spPr>
          <a:xfrm>
            <a:off x="4488872" y="5248034"/>
            <a:ext cx="744860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Controller (RightClick)       	New Controller</a:t>
            </a:r>
            <a:endParaRPr/>
          </a:p>
        </p:txBody>
      </p:sp>
      <p:sp>
        <p:nvSpPr>
          <p:cNvPr id="207" name="Google Shape;207;p11"/>
          <p:cNvSpPr/>
          <p:nvPr/>
        </p:nvSpPr>
        <p:spPr>
          <a:xfrm>
            <a:off x="8151641" y="5349855"/>
            <a:ext cx="789709" cy="319578"/>
          </a:xfrm>
          <a:prstGeom prst="rightArrow">
            <a:avLst>
              <a:gd name="adj1" fmla="val 50000"/>
              <a:gd name="adj2" fmla="val 50000"/>
            </a:avLst>
          </a:prstGeom>
          <a:solidFill>
            <a:schemeClr val="accent1"/>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BDA89E7C-98F2-4294-8FF9-D1374C8870C5}"/>
              </a:ext>
            </a:extLst>
          </p:cNvPr>
          <p:cNvPicPr>
            <a:picLocks noChangeAspect="1"/>
          </p:cNvPicPr>
          <p:nvPr/>
        </p:nvPicPr>
        <p:blipFill>
          <a:blip r:embed="rId4"/>
          <a:stretch>
            <a:fillRect/>
          </a:stretch>
        </p:blipFill>
        <p:spPr>
          <a:xfrm>
            <a:off x="4488872" y="1118082"/>
            <a:ext cx="6864928" cy="4028131"/>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 calcmode="lin" valueType="num">
                                      <p:cBhvr additive="base">
                                        <p:cTn id="7" dur="500"/>
                                        <p:tgtEl>
                                          <p:spTgt spid="201"/>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99"/>
                                        </p:tgtEl>
                                        <p:attrNameLst>
                                          <p:attrName>style.visibility</p:attrName>
                                        </p:attrNameLst>
                                      </p:cBhvr>
                                      <p:to>
                                        <p:strVal val="visible"/>
                                      </p:to>
                                    </p:set>
                                    <p:anim calcmode="lin" valueType="num">
                                      <p:cBhvr additive="base">
                                        <p:cTn id="10" dur="500"/>
                                        <p:tgtEl>
                                          <p:spTgt spid="19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02"/>
                                        </p:tgtEl>
                                        <p:attrNameLst>
                                          <p:attrName>style.visibility</p:attrName>
                                        </p:attrNameLst>
                                      </p:cBhvr>
                                      <p:to>
                                        <p:strVal val="visible"/>
                                      </p:to>
                                    </p:set>
                                    <p:anim calcmode="lin" valueType="num">
                                      <p:cBhvr additive="base">
                                        <p:cTn id="15" dur="500"/>
                                        <p:tgtEl>
                                          <p:spTgt spid="202"/>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00"/>
                                        </p:tgtEl>
                                        <p:attrNameLst>
                                          <p:attrName>style.visibility</p:attrName>
                                        </p:attrNameLst>
                                      </p:cBhvr>
                                      <p:to>
                                        <p:strVal val="visible"/>
                                      </p:to>
                                    </p:set>
                                    <p:anim calcmode="lin" valueType="num">
                                      <p:cBhvr additive="base">
                                        <p:cTn id="18" dur="500"/>
                                        <p:tgtEl>
                                          <p:spTgt spid="2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p:nvPr/>
        </p:nvSpPr>
        <p:spPr>
          <a:xfrm>
            <a:off x="899854" y="971530"/>
            <a:ext cx="3526673" cy="245747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b="0" i="0" u="none" strike="noStrike" cap="none">
              <a:solidFill>
                <a:srgbClr val="F2F2F2"/>
              </a:solidFill>
              <a:latin typeface="Calibri"/>
              <a:ea typeface="Calibri"/>
              <a:cs typeface="Calibri"/>
              <a:sym typeface="Calibri"/>
            </a:endParaRPr>
          </a:p>
          <a:p>
            <a:pPr marL="0" marR="0" lvl="0" indent="0" algn="ctr" rtl="0">
              <a:lnSpc>
                <a:spcPct val="100000"/>
              </a:lnSpc>
              <a:spcBef>
                <a:spcPts val="0"/>
              </a:spcBef>
              <a:spcAft>
                <a:spcPts val="0"/>
              </a:spcAft>
              <a:buNone/>
            </a:pPr>
            <a:r>
              <a:rPr lang="en-US" sz="2000" b="0" i="0" u="none" strike="noStrike" cap="none">
                <a:solidFill>
                  <a:srgbClr val="F2F2F2"/>
                </a:solidFill>
                <a:latin typeface="Calibri"/>
                <a:ea typeface="Calibri"/>
                <a:cs typeface="Calibri"/>
                <a:sym typeface="Calibri"/>
              </a:rPr>
              <a:t>Action methods within controllers handle specific HTTP requests.</a:t>
            </a:r>
            <a:endParaRPr sz="2000" b="0" i="0" u="none" strike="noStrike" cap="none">
              <a:solidFill>
                <a:srgbClr val="F2F2F2"/>
              </a:solidFill>
              <a:latin typeface="Calibri"/>
              <a:ea typeface="Calibri"/>
              <a:cs typeface="Calibri"/>
              <a:sym typeface="Calibri"/>
            </a:endParaRPr>
          </a:p>
        </p:txBody>
      </p:sp>
      <p:sp>
        <p:nvSpPr>
          <p:cNvPr id="214" name="Google Shape;214;p31"/>
          <p:cNvSpPr txBox="1"/>
          <p:nvPr/>
        </p:nvSpPr>
        <p:spPr>
          <a:xfrm>
            <a:off x="1021427" y="1143000"/>
            <a:ext cx="322118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Calibri"/>
                <a:ea typeface="Calibri"/>
                <a:cs typeface="Calibri"/>
                <a:sym typeface="Calibri"/>
              </a:rPr>
              <a:t>Action Methods</a:t>
            </a:r>
            <a:endParaRPr sz="2800" b="1" i="0" u="none" strike="noStrike" cap="none">
              <a:solidFill>
                <a:schemeClr val="lt1"/>
              </a:solidFill>
              <a:latin typeface="Calibri"/>
              <a:ea typeface="Calibri"/>
              <a:cs typeface="Calibri"/>
              <a:sym typeface="Calibri"/>
            </a:endParaRPr>
          </a:p>
        </p:txBody>
      </p:sp>
      <p:sp>
        <p:nvSpPr>
          <p:cNvPr id="215" name="Google Shape;215;p31"/>
          <p:cNvSpPr/>
          <p:nvPr/>
        </p:nvSpPr>
        <p:spPr>
          <a:xfrm>
            <a:off x="6597882" y="971530"/>
            <a:ext cx="3592136" cy="245747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b="0" i="0" u="none" strike="noStrike" cap="none">
              <a:solidFill>
                <a:srgbClr val="F2F2F2"/>
              </a:solidFill>
              <a:latin typeface="Calibri"/>
              <a:ea typeface="Calibri"/>
              <a:cs typeface="Calibri"/>
              <a:sym typeface="Calibri"/>
            </a:endParaRPr>
          </a:p>
          <a:p>
            <a:pPr marL="0" marR="0" lvl="0" indent="0" algn="ctr" rtl="0">
              <a:lnSpc>
                <a:spcPct val="100000"/>
              </a:lnSpc>
              <a:spcBef>
                <a:spcPts val="0"/>
              </a:spcBef>
              <a:spcAft>
                <a:spcPts val="0"/>
              </a:spcAft>
              <a:buNone/>
            </a:pPr>
            <a:endParaRPr sz="2000" b="0" i="0" u="none" strike="noStrike" cap="none">
              <a:solidFill>
                <a:srgbClr val="F2F2F2"/>
              </a:solidFill>
              <a:latin typeface="Calibri"/>
              <a:ea typeface="Calibri"/>
              <a:cs typeface="Calibri"/>
              <a:sym typeface="Calibri"/>
            </a:endParaRPr>
          </a:p>
          <a:p>
            <a:pPr marL="0" marR="0" lvl="0" indent="0" algn="ctr" rtl="0">
              <a:lnSpc>
                <a:spcPct val="100000"/>
              </a:lnSpc>
              <a:spcBef>
                <a:spcPts val="0"/>
              </a:spcBef>
              <a:spcAft>
                <a:spcPts val="0"/>
              </a:spcAft>
              <a:buNone/>
            </a:pPr>
            <a:r>
              <a:rPr lang="en-US" sz="2000" b="0" i="0" u="none" strike="noStrike" cap="none">
                <a:solidFill>
                  <a:schemeClr val="lt1"/>
                </a:solidFill>
                <a:latin typeface="Calibri"/>
                <a:ea typeface="Calibri"/>
                <a:cs typeface="Calibri"/>
                <a:sym typeface="Calibri"/>
              </a:rPr>
              <a:t>ASP.NET Core uses routing to map incoming requests to the appropriate controller and action method..</a:t>
            </a:r>
            <a:endParaRPr sz="2000" b="0" i="0" u="none" strike="noStrike" cap="none">
              <a:solidFill>
                <a:schemeClr val="lt1"/>
              </a:solidFill>
              <a:latin typeface="Calibri"/>
              <a:ea typeface="Calibri"/>
              <a:cs typeface="Calibri"/>
              <a:sym typeface="Calibri"/>
            </a:endParaRPr>
          </a:p>
        </p:txBody>
      </p:sp>
      <p:sp>
        <p:nvSpPr>
          <p:cNvPr id="216" name="Google Shape;216;p31"/>
          <p:cNvSpPr txBox="1"/>
          <p:nvPr/>
        </p:nvSpPr>
        <p:spPr>
          <a:xfrm>
            <a:off x="6597881" y="971531"/>
            <a:ext cx="3592135"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chemeClr val="lt1"/>
                </a:solidFill>
                <a:latin typeface="Calibri"/>
                <a:ea typeface="Calibri"/>
                <a:cs typeface="Calibri"/>
                <a:sym typeface="Calibri"/>
              </a:rPr>
              <a:t>Routing</a:t>
            </a:r>
            <a:endParaRPr sz="3200" b="1" i="0" u="none" strike="noStrike" cap="none">
              <a:solidFill>
                <a:schemeClr val="lt1"/>
              </a:solidFill>
              <a:latin typeface="Calibri"/>
              <a:ea typeface="Calibri"/>
              <a:cs typeface="Calibri"/>
              <a:sym typeface="Calibri"/>
            </a:endParaRPr>
          </a:p>
        </p:txBody>
      </p:sp>
      <p:sp>
        <p:nvSpPr>
          <p:cNvPr id="217" name="Google Shape;217;p31"/>
          <p:cNvSpPr/>
          <p:nvPr/>
        </p:nvSpPr>
        <p:spPr>
          <a:xfrm>
            <a:off x="834391" y="3857596"/>
            <a:ext cx="3592136" cy="2535382"/>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b="0" i="0" u="none" strike="noStrike" cap="none">
              <a:solidFill>
                <a:srgbClr val="F2F2F2"/>
              </a:solidFill>
              <a:latin typeface="Calibri"/>
              <a:ea typeface="Calibri"/>
              <a:cs typeface="Calibri"/>
              <a:sym typeface="Calibri"/>
            </a:endParaRPr>
          </a:p>
          <a:p>
            <a:pPr marL="0" marR="0" lvl="0" indent="0" algn="ctr" rtl="0">
              <a:lnSpc>
                <a:spcPct val="100000"/>
              </a:lnSpc>
              <a:spcBef>
                <a:spcPts val="0"/>
              </a:spcBef>
              <a:spcAft>
                <a:spcPts val="0"/>
              </a:spcAft>
              <a:buNone/>
            </a:pPr>
            <a:endParaRPr sz="20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None/>
            </a:pPr>
            <a:r>
              <a:rPr lang="en-US" sz="2000" b="0" i="0" u="none" strike="noStrike" cap="none">
                <a:solidFill>
                  <a:schemeClr val="lt1"/>
                </a:solidFill>
                <a:latin typeface="Calibri"/>
                <a:ea typeface="Calibri"/>
                <a:cs typeface="Calibri"/>
                <a:sym typeface="Calibri"/>
              </a:rPr>
              <a:t>Attributes are used to decorate action methods and define additional metadata such as route templates, HTTP verbs, and action filters..</a:t>
            </a:r>
            <a:endParaRPr sz="2000" b="0" i="0" u="none" strike="noStrike" cap="none">
              <a:solidFill>
                <a:schemeClr val="lt1"/>
              </a:solidFill>
              <a:latin typeface="Calibri"/>
              <a:ea typeface="Calibri"/>
              <a:cs typeface="Calibri"/>
              <a:sym typeface="Calibri"/>
            </a:endParaRPr>
          </a:p>
        </p:txBody>
      </p:sp>
      <p:sp>
        <p:nvSpPr>
          <p:cNvPr id="218" name="Google Shape;218;p31"/>
          <p:cNvSpPr txBox="1"/>
          <p:nvPr/>
        </p:nvSpPr>
        <p:spPr>
          <a:xfrm>
            <a:off x="1021427" y="4042818"/>
            <a:ext cx="3218064"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a:solidFill>
                  <a:schemeClr val="lt1"/>
                </a:solidFill>
                <a:latin typeface="Calibri"/>
                <a:ea typeface="Calibri"/>
                <a:cs typeface="Calibri"/>
                <a:sym typeface="Calibri"/>
              </a:rPr>
              <a:t>Attributes</a:t>
            </a:r>
            <a:endParaRPr sz="2800" b="1" i="0" u="none" strike="noStrike" cap="none">
              <a:solidFill>
                <a:schemeClr val="lt1"/>
              </a:solidFill>
              <a:latin typeface="Calibri"/>
              <a:ea typeface="Calibri"/>
              <a:cs typeface="Calibri"/>
              <a:sym typeface="Calibri"/>
            </a:endParaRPr>
          </a:p>
        </p:txBody>
      </p:sp>
      <p:sp>
        <p:nvSpPr>
          <p:cNvPr id="219" name="Google Shape;219;p31"/>
          <p:cNvSpPr/>
          <p:nvPr/>
        </p:nvSpPr>
        <p:spPr>
          <a:xfrm>
            <a:off x="6597881" y="4018241"/>
            <a:ext cx="3592137" cy="2374737"/>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0" i="0" u="none" strike="noStrike" cap="none">
                <a:solidFill>
                  <a:schemeClr val="accent1"/>
                </a:solidFill>
                <a:latin typeface="Arial"/>
                <a:ea typeface="Arial"/>
                <a:cs typeface="Arial"/>
                <a:sym typeface="Arial"/>
              </a:rPr>
              <a:t>Action</a:t>
            </a:r>
            <a:endParaRPr/>
          </a:p>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Action Methods returns an Action Result or its derived types to generate response</a:t>
            </a:r>
            <a:r>
              <a:rPr lang="en-US" sz="2000" b="0" i="0" u="none" strike="noStrike" cap="none">
                <a:solidFill>
                  <a:schemeClr val="accent1"/>
                </a:solidFill>
                <a:latin typeface="Arial"/>
                <a:ea typeface="Arial"/>
                <a:cs typeface="Arial"/>
                <a:sym typeface="Arial"/>
              </a:rPr>
              <a:t>.</a:t>
            </a:r>
            <a:r>
              <a:rPr lang="en-US" sz="1100" b="0" i="0" u="none" strike="noStrike" cap="none">
                <a:solidFill>
                  <a:schemeClr val="accent1"/>
                </a:solidFill>
                <a:latin typeface="Arial"/>
                <a:ea typeface="Arial"/>
                <a:cs typeface="Arial"/>
                <a:sym typeface="Arial"/>
              </a:rPr>
              <a:t> </a:t>
            </a:r>
            <a:endParaRPr sz="3200" b="0" i="0" u="none" strike="noStrike" cap="none">
              <a:solidFill>
                <a:schemeClr val="accent1"/>
              </a:solidFill>
              <a:latin typeface="Arial"/>
              <a:ea typeface="Arial"/>
              <a:cs typeface="Arial"/>
              <a:sym typeface="Arial"/>
            </a:endParaRPr>
          </a:p>
        </p:txBody>
      </p:sp>
      <p:sp>
        <p:nvSpPr>
          <p:cNvPr id="220" name="Google Shape;220;p31"/>
          <p:cNvSpPr txBox="1"/>
          <p:nvPr/>
        </p:nvSpPr>
        <p:spPr>
          <a:xfrm>
            <a:off x="7250950" y="4018241"/>
            <a:ext cx="256499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chemeClr val="lt1"/>
                </a:solidFill>
                <a:latin typeface="Calibri"/>
                <a:ea typeface="Calibri"/>
                <a:cs typeface="Calibri"/>
                <a:sym typeface="Calibri"/>
              </a:rPr>
              <a:t>ActionResult</a:t>
            </a:r>
            <a:endParaRPr sz="2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 calcmode="lin" valueType="num">
                                      <p:cBhvr additive="base">
                                        <p:cTn id="7" dur="500"/>
                                        <p:tgtEl>
                                          <p:spTgt spid="214"/>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13"/>
                                        </p:tgtEl>
                                        <p:attrNameLst>
                                          <p:attrName>style.visibility</p:attrName>
                                        </p:attrNameLst>
                                      </p:cBhvr>
                                      <p:to>
                                        <p:strVal val="visible"/>
                                      </p:to>
                                    </p:set>
                                    <p:anim calcmode="lin" valueType="num">
                                      <p:cBhvr additive="base">
                                        <p:cTn id="10" dur="500"/>
                                        <p:tgtEl>
                                          <p:spTgt spid="213"/>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16"/>
                                        </p:tgtEl>
                                        <p:attrNameLst>
                                          <p:attrName>style.visibility</p:attrName>
                                        </p:attrNameLst>
                                      </p:cBhvr>
                                      <p:to>
                                        <p:strVal val="visible"/>
                                      </p:to>
                                    </p:set>
                                    <p:anim calcmode="lin" valueType="num">
                                      <p:cBhvr additive="base">
                                        <p:cTn id="15" dur="500"/>
                                        <p:tgtEl>
                                          <p:spTgt spid="216"/>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15"/>
                                        </p:tgtEl>
                                        <p:attrNameLst>
                                          <p:attrName>style.visibility</p:attrName>
                                        </p:attrNameLst>
                                      </p:cBhvr>
                                      <p:to>
                                        <p:strVal val="visible"/>
                                      </p:to>
                                    </p:set>
                                    <p:anim calcmode="lin" valueType="num">
                                      <p:cBhvr additive="base">
                                        <p:cTn id="18" dur="500"/>
                                        <p:tgtEl>
                                          <p:spTgt spid="21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18"/>
                                        </p:tgtEl>
                                        <p:attrNameLst>
                                          <p:attrName>style.visibility</p:attrName>
                                        </p:attrNameLst>
                                      </p:cBhvr>
                                      <p:to>
                                        <p:strVal val="visible"/>
                                      </p:to>
                                    </p:set>
                                    <p:anim calcmode="lin" valueType="num">
                                      <p:cBhvr additive="base">
                                        <p:cTn id="23" dur="500"/>
                                        <p:tgtEl>
                                          <p:spTgt spid="218"/>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17"/>
                                        </p:tgtEl>
                                        <p:attrNameLst>
                                          <p:attrName>style.visibility</p:attrName>
                                        </p:attrNameLst>
                                      </p:cBhvr>
                                      <p:to>
                                        <p:strVal val="visible"/>
                                      </p:to>
                                    </p:set>
                                    <p:anim calcmode="lin" valueType="num">
                                      <p:cBhvr additive="base">
                                        <p:cTn id="26" dur="500"/>
                                        <p:tgtEl>
                                          <p:spTgt spid="217"/>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9"/>
                                        </p:tgtEl>
                                        <p:attrNameLst>
                                          <p:attrName>style.visibility</p:attrName>
                                        </p:attrNameLst>
                                      </p:cBhvr>
                                      <p:to>
                                        <p:strVal val="visible"/>
                                      </p:to>
                                    </p:set>
                                    <p:anim calcmode="lin" valueType="num">
                                      <p:cBhvr additive="base">
                                        <p:cTn id="29" dur="500"/>
                                        <p:tgtEl>
                                          <p:spTgt spid="2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12" descr="Controller1"/>
          <p:cNvPicPr preferRelativeResize="0">
            <a:picLocks noGrp="1"/>
          </p:cNvPicPr>
          <p:nvPr>
            <p:ph type="body" idx="1"/>
          </p:nvPr>
        </p:nvPicPr>
        <p:blipFill rotWithShape="1">
          <a:blip r:embed="rId3">
            <a:alphaModFix/>
          </a:blip>
          <a:srcRect/>
          <a:stretch/>
        </p:blipFill>
        <p:spPr>
          <a:xfrm>
            <a:off x="6172200" y="2703195"/>
            <a:ext cx="5181600" cy="2162810"/>
          </a:xfrm>
          <a:prstGeom prst="rect">
            <a:avLst/>
          </a:prstGeom>
          <a:noFill/>
          <a:ln>
            <a:noFill/>
          </a:ln>
        </p:spPr>
      </p:pic>
      <p:sp>
        <p:nvSpPr>
          <p:cNvPr id="226" name="Google Shape;226;p12"/>
          <p:cNvSpPr txBox="1"/>
          <p:nvPr/>
        </p:nvSpPr>
        <p:spPr>
          <a:xfrm>
            <a:off x="835025" y="1486535"/>
            <a:ext cx="4300855" cy="40925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When the client (browser) sends a request to the server, then that request first goes through the request processing pipeline. Once the request passes the request processing pipeline, it will hit the controller. Inside the controller, there are lots of methods (called action methods) actually handle that incoming HTTP Request. The action method inside the controller executes the business logic and prepared the response which is sent back to the client who initially made the request.</a:t>
            </a:r>
            <a:endParaRPr sz="2000" b="0" i="0" u="none" strike="noStrike" cap="none">
              <a:solidFill>
                <a:schemeClr val="lt1"/>
              </a:solidFill>
              <a:latin typeface="Calibri"/>
              <a:ea typeface="Calibri"/>
              <a:cs typeface="Calibri"/>
              <a:sym typeface="Calibri"/>
            </a:endParaRPr>
          </a:p>
        </p:txBody>
      </p:sp>
      <p:sp>
        <p:nvSpPr>
          <p:cNvPr id="227" name="Google Shape;227;p12"/>
          <p:cNvSpPr/>
          <p:nvPr/>
        </p:nvSpPr>
        <p:spPr>
          <a:xfrm>
            <a:off x="580390" y="512445"/>
            <a:ext cx="5196840" cy="542163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8" name="Google Shape;228;p12"/>
          <p:cNvSpPr txBox="1"/>
          <p:nvPr/>
        </p:nvSpPr>
        <p:spPr>
          <a:xfrm>
            <a:off x="1039495" y="736600"/>
            <a:ext cx="4408805" cy="51695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Calibri"/>
                <a:ea typeface="Calibri"/>
                <a:cs typeface="Calibri"/>
                <a:sym typeface="Calibri"/>
              </a:rPr>
              <a:t>When the client (browser) sends a request to the server, then that request first goes through the request processing pipeline. Once the request passes the request processing pipeline, it will hit the controller. Inside the controller, there are lots of methods (called action methods) actually handle that incoming HTTP Request. The action method inside the controller executes the business logic and prepared the response which is sent back to the client who initially made the request.</a:t>
            </a:r>
            <a:endParaRPr sz="2200" b="0" i="0" u="none" strike="noStrike" cap="none">
              <a:solidFill>
                <a:schemeClr val="lt1"/>
              </a:solidFill>
              <a:latin typeface="Calibri"/>
              <a:ea typeface="Calibri"/>
              <a:cs typeface="Calibri"/>
              <a:sym typeface="Calibri"/>
            </a:endParaRPr>
          </a:p>
        </p:txBody>
      </p:sp>
      <p:pic>
        <p:nvPicPr>
          <p:cNvPr id="229" name="Google Shape;229;p12" descr="Aitrich-Logo-Transparent-BG-1536x504"/>
          <p:cNvPicPr preferRelativeResize="0"/>
          <p:nvPr/>
        </p:nvPicPr>
        <p:blipFill rotWithShape="1">
          <a:blip r:embed="rId4">
            <a:alphaModFix/>
          </a:blip>
          <a:srcRect/>
          <a:stretch/>
        </p:blipFill>
        <p:spPr>
          <a:xfrm>
            <a:off x="332740" y="6298565"/>
            <a:ext cx="1101090" cy="36131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p:tgtEl>
                                          <p:spTgt spid="22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27"/>
                                        </p:tgtEl>
                                        <p:attrNameLst>
                                          <p:attrName>style.visibility</p:attrName>
                                        </p:attrNameLst>
                                      </p:cBhvr>
                                      <p:to>
                                        <p:strVal val="visible"/>
                                      </p:to>
                                    </p:set>
                                    <p:anim calcmode="lin" valueType="num">
                                      <p:cBhvr additive="base">
                                        <p:cTn id="10" dur="500"/>
                                        <p:tgtEl>
                                          <p:spTgt spid="2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are Action Methods?</a:t>
            </a:r>
            <a:endParaRPr/>
          </a:p>
        </p:txBody>
      </p:sp>
      <p:pic>
        <p:nvPicPr>
          <p:cNvPr id="235" name="Google Shape;235;p13" descr="13330330_Feb-Business_9 (1)"/>
          <p:cNvPicPr preferRelativeResize="0">
            <a:picLocks noGrp="1"/>
          </p:cNvPicPr>
          <p:nvPr>
            <p:ph type="body" idx="1"/>
          </p:nvPr>
        </p:nvPicPr>
        <p:blipFill rotWithShape="1">
          <a:blip r:embed="rId3">
            <a:alphaModFix/>
          </a:blip>
          <a:srcRect/>
          <a:stretch/>
        </p:blipFill>
        <p:spPr>
          <a:xfrm>
            <a:off x="7626985" y="1946910"/>
            <a:ext cx="4351655" cy="4351655"/>
          </a:xfrm>
          <a:prstGeom prst="rect">
            <a:avLst/>
          </a:prstGeom>
          <a:noFill/>
          <a:ln>
            <a:noFill/>
          </a:ln>
        </p:spPr>
      </p:pic>
      <p:sp>
        <p:nvSpPr>
          <p:cNvPr id="236" name="Google Shape;236;p13"/>
          <p:cNvSpPr/>
          <p:nvPr/>
        </p:nvSpPr>
        <p:spPr>
          <a:xfrm>
            <a:off x="726440" y="1858010"/>
            <a:ext cx="6668135" cy="94361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7" name="Google Shape;237;p13"/>
          <p:cNvSpPr txBox="1"/>
          <p:nvPr/>
        </p:nvSpPr>
        <p:spPr>
          <a:xfrm>
            <a:off x="958215" y="1982470"/>
            <a:ext cx="6018530" cy="706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All the public methods of a controller class are known as Action Methods.</a:t>
            </a:r>
            <a:endParaRPr sz="1800" b="0" i="0" u="none" strike="noStrike" cap="none">
              <a:solidFill>
                <a:schemeClr val="dk1"/>
              </a:solidFill>
              <a:latin typeface="Calibri"/>
              <a:ea typeface="Calibri"/>
              <a:cs typeface="Calibri"/>
              <a:sym typeface="Calibri"/>
            </a:endParaRPr>
          </a:p>
        </p:txBody>
      </p:sp>
      <p:sp>
        <p:nvSpPr>
          <p:cNvPr id="238" name="Google Shape;238;p13"/>
          <p:cNvSpPr/>
          <p:nvPr/>
        </p:nvSpPr>
        <p:spPr>
          <a:xfrm>
            <a:off x="726440" y="3049270"/>
            <a:ext cx="6668135" cy="94361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9" name="Google Shape;239;p13"/>
          <p:cNvSpPr txBox="1"/>
          <p:nvPr/>
        </p:nvSpPr>
        <p:spPr>
          <a:xfrm>
            <a:off x="958215" y="3321685"/>
            <a:ext cx="6266815" cy="3987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An action method can return several types.</a:t>
            </a:r>
            <a:r>
              <a:rPr lang="en-US"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sp>
        <p:nvSpPr>
          <p:cNvPr id="240" name="Google Shape;240;p13"/>
          <p:cNvSpPr/>
          <p:nvPr/>
        </p:nvSpPr>
        <p:spPr>
          <a:xfrm>
            <a:off x="757555" y="4352925"/>
            <a:ext cx="6637655" cy="164020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1" name="Google Shape;241;p13"/>
          <p:cNvSpPr txBox="1"/>
          <p:nvPr/>
        </p:nvSpPr>
        <p:spPr>
          <a:xfrm>
            <a:off x="958215" y="4497070"/>
            <a:ext cx="6267450" cy="1015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When we get an HTTP Request on a Controller, it is actually the controller action method getting that call. </a:t>
            </a:r>
            <a:endParaRPr sz="2000" b="0"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None/>
            </a:pPr>
            <a:r>
              <a:rPr lang="en-US" sz="2000" b="0" i="0" u="none" strike="noStrike" cap="none">
                <a:solidFill>
                  <a:schemeClr val="lt1"/>
                </a:solidFill>
                <a:latin typeface="Calibri"/>
                <a:ea typeface="Calibri"/>
                <a:cs typeface="Calibri"/>
                <a:sym typeface="Calibri"/>
              </a:rPr>
              <a:t>The default structure is:</a:t>
            </a:r>
            <a:r>
              <a:rPr lang="en-US" sz="2000" b="1" i="0" u="none" strike="noStrike" cap="none">
                <a:solidFill>
                  <a:schemeClr val="lt1"/>
                </a:solidFill>
                <a:latin typeface="Calibri"/>
                <a:ea typeface="Calibri"/>
                <a:cs typeface="Calibri"/>
                <a:sym typeface="Calibri"/>
              </a:rPr>
              <a:t>http://domain.com/Home/Index</a:t>
            </a:r>
            <a:endParaRPr sz="2000" b="0" i="0" u="none" strike="noStrike" cap="none">
              <a:solidFill>
                <a:schemeClr val="lt1"/>
              </a:solidFill>
              <a:latin typeface="Calibri"/>
              <a:ea typeface="Calibri"/>
              <a:cs typeface="Calibri"/>
              <a:sym typeface="Calibri"/>
            </a:endParaRPr>
          </a:p>
        </p:txBody>
      </p:sp>
      <p:pic>
        <p:nvPicPr>
          <p:cNvPr id="242" name="Google Shape;242;p13" descr="Aitrich-Logo-Transparent-BG-1536x504"/>
          <p:cNvPicPr preferRelativeResize="0"/>
          <p:nvPr/>
        </p:nvPicPr>
        <p:blipFill rotWithShape="1">
          <a:blip r:embed="rId4">
            <a:alphaModFix/>
          </a:blip>
          <a:srcRect/>
          <a:stretch/>
        </p:blipFill>
        <p:spPr>
          <a:xfrm>
            <a:off x="332740" y="6298565"/>
            <a:ext cx="1101090" cy="36131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 calcmode="lin" valueType="num">
                                      <p:cBhvr additive="base">
                                        <p:cTn id="7" dur="500"/>
                                        <p:tgtEl>
                                          <p:spTgt spid="23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37"/>
                                        </p:tgtEl>
                                        <p:attrNameLst>
                                          <p:attrName>style.visibility</p:attrName>
                                        </p:attrNameLst>
                                      </p:cBhvr>
                                      <p:to>
                                        <p:strVal val="visible"/>
                                      </p:to>
                                    </p:set>
                                    <p:anim calcmode="lin" valueType="num">
                                      <p:cBhvr additive="base">
                                        <p:cTn id="10" dur="500"/>
                                        <p:tgtEl>
                                          <p:spTgt spid="237"/>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39"/>
                                        </p:tgtEl>
                                        <p:attrNameLst>
                                          <p:attrName>style.visibility</p:attrName>
                                        </p:attrNameLst>
                                      </p:cBhvr>
                                      <p:to>
                                        <p:strVal val="visible"/>
                                      </p:to>
                                    </p:set>
                                    <p:anim calcmode="lin" valueType="num">
                                      <p:cBhvr additive="base">
                                        <p:cTn id="15" dur="500"/>
                                        <p:tgtEl>
                                          <p:spTgt spid="239"/>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38"/>
                                        </p:tgtEl>
                                        <p:attrNameLst>
                                          <p:attrName>style.visibility</p:attrName>
                                        </p:attrNameLst>
                                      </p:cBhvr>
                                      <p:to>
                                        <p:strVal val="visible"/>
                                      </p:to>
                                    </p:set>
                                    <p:anim calcmode="lin" valueType="num">
                                      <p:cBhvr additive="base">
                                        <p:cTn id="18" dur="500"/>
                                        <p:tgtEl>
                                          <p:spTgt spid="238"/>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41"/>
                                        </p:tgtEl>
                                        <p:attrNameLst>
                                          <p:attrName>style.visibility</p:attrName>
                                        </p:attrNameLst>
                                      </p:cBhvr>
                                      <p:to>
                                        <p:strVal val="visible"/>
                                      </p:to>
                                    </p:set>
                                    <p:anim calcmode="lin" valueType="num">
                                      <p:cBhvr additive="base">
                                        <p:cTn id="23" dur="500"/>
                                        <p:tgtEl>
                                          <p:spTgt spid="241"/>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40"/>
                                        </p:tgtEl>
                                        <p:attrNameLst>
                                          <p:attrName>style.visibility</p:attrName>
                                        </p:attrNameLst>
                                      </p:cBhvr>
                                      <p:to>
                                        <p:strVal val="visible"/>
                                      </p:to>
                                    </p:set>
                                    <p:anim calcmode="lin" valueType="num">
                                      <p:cBhvr additive="base">
                                        <p:cTn id="26" dur="500"/>
                                        <p:tgtEl>
                                          <p:spTgt spid="2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Views in ASP.NET Core MVC</a:t>
            </a:r>
            <a:endParaRPr>
              <a:solidFill>
                <a:schemeClr val="dk2"/>
              </a:solidFill>
            </a:endParaRPr>
          </a:p>
        </p:txBody>
      </p:sp>
      <p:pic>
        <p:nvPicPr>
          <p:cNvPr id="248" name="Google Shape;248;p14" descr="13338131_5214651"/>
          <p:cNvPicPr preferRelativeResize="0">
            <a:picLocks noGrp="1"/>
          </p:cNvPicPr>
          <p:nvPr>
            <p:ph type="body" idx="1"/>
          </p:nvPr>
        </p:nvPicPr>
        <p:blipFill rotWithShape="1">
          <a:blip r:embed="rId3">
            <a:alphaModFix/>
          </a:blip>
          <a:srcRect/>
          <a:stretch/>
        </p:blipFill>
        <p:spPr>
          <a:xfrm>
            <a:off x="6822440" y="1507490"/>
            <a:ext cx="4351655" cy="4351655"/>
          </a:xfrm>
          <a:prstGeom prst="rect">
            <a:avLst/>
          </a:prstGeom>
          <a:noFill/>
          <a:ln>
            <a:noFill/>
          </a:ln>
        </p:spPr>
      </p:pic>
      <p:sp>
        <p:nvSpPr>
          <p:cNvPr id="249" name="Google Shape;249;p14"/>
          <p:cNvSpPr/>
          <p:nvPr/>
        </p:nvSpPr>
        <p:spPr>
          <a:xfrm>
            <a:off x="1097280" y="3429000"/>
            <a:ext cx="5323840" cy="2161309"/>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0" name="Google Shape;250;p14"/>
          <p:cNvSpPr txBox="1"/>
          <p:nvPr/>
        </p:nvSpPr>
        <p:spPr>
          <a:xfrm>
            <a:off x="1267460" y="3616036"/>
            <a:ext cx="5153660" cy="1631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In the Model-View-Controller (MVC) pattern, the View is the component that contains logic to represent the model data (the model data provided to it by a controller) as a user interface with which the end-user can interact.</a:t>
            </a:r>
            <a:endParaRPr sz="2000" b="0" i="0" u="none" strike="noStrike" cap="none">
              <a:solidFill>
                <a:schemeClr val="lt1"/>
              </a:solidFill>
              <a:latin typeface="Calibri"/>
              <a:ea typeface="Calibri"/>
              <a:cs typeface="Calibri"/>
              <a:sym typeface="Calibri"/>
            </a:endParaRPr>
          </a:p>
        </p:txBody>
      </p:sp>
      <p:pic>
        <p:nvPicPr>
          <p:cNvPr id="251" name="Google Shape;251;p14" descr="Aitrich-Logo-Transparent-BG-1536x504"/>
          <p:cNvPicPr preferRelativeResize="0"/>
          <p:nvPr/>
        </p:nvPicPr>
        <p:blipFill rotWithShape="1">
          <a:blip r:embed="rId4">
            <a:alphaModFix/>
          </a:blip>
          <a:srcRect/>
          <a:stretch/>
        </p:blipFill>
        <p:spPr>
          <a:xfrm>
            <a:off x="332740" y="6298565"/>
            <a:ext cx="1101090" cy="361315"/>
          </a:xfrm>
          <a:prstGeom prst="rect">
            <a:avLst/>
          </a:prstGeom>
          <a:noFill/>
          <a:ln>
            <a:noFill/>
          </a:ln>
        </p:spPr>
      </p:pic>
      <p:sp>
        <p:nvSpPr>
          <p:cNvPr id="252" name="Google Shape;252;p14"/>
          <p:cNvSpPr/>
          <p:nvPr/>
        </p:nvSpPr>
        <p:spPr>
          <a:xfrm>
            <a:off x="1096645" y="1750060"/>
            <a:ext cx="5324475" cy="91249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3" name="Google Shape;253;p14"/>
          <p:cNvSpPr txBox="1"/>
          <p:nvPr/>
        </p:nvSpPr>
        <p:spPr>
          <a:xfrm>
            <a:off x="1267460" y="1896110"/>
            <a:ext cx="4982210" cy="7078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Calibri"/>
                <a:ea typeface="Calibri"/>
                <a:cs typeface="Calibri"/>
                <a:sym typeface="Calibri"/>
              </a:rPr>
              <a:t>views represent the presentation layer of the application</a:t>
            </a:r>
            <a:endParaRPr sz="20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3"/>
                                        </p:tgtEl>
                                        <p:attrNameLst>
                                          <p:attrName>style.visibility</p:attrName>
                                        </p:attrNameLst>
                                      </p:cBhvr>
                                      <p:to>
                                        <p:strVal val="visible"/>
                                      </p:to>
                                    </p:set>
                                    <p:anim calcmode="lin" valueType="num">
                                      <p:cBhvr additive="base">
                                        <p:cTn id="7" dur="500"/>
                                        <p:tgtEl>
                                          <p:spTgt spid="25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52"/>
                                        </p:tgtEl>
                                        <p:attrNameLst>
                                          <p:attrName>style.visibility</p:attrName>
                                        </p:attrNameLst>
                                      </p:cBhvr>
                                      <p:to>
                                        <p:strVal val="visible"/>
                                      </p:to>
                                    </p:set>
                                    <p:anim calcmode="lin" valueType="num">
                                      <p:cBhvr additive="base">
                                        <p:cTn id="10" dur="500"/>
                                        <p:tgtEl>
                                          <p:spTgt spid="252"/>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50"/>
                                        </p:tgtEl>
                                        <p:attrNameLst>
                                          <p:attrName>style.visibility</p:attrName>
                                        </p:attrNameLst>
                                      </p:cBhvr>
                                      <p:to>
                                        <p:strVal val="visible"/>
                                      </p:to>
                                    </p:set>
                                    <p:anim calcmode="lin" valueType="num">
                                      <p:cBhvr additive="base">
                                        <p:cTn id="15" dur="500"/>
                                        <p:tgtEl>
                                          <p:spTgt spid="250"/>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49"/>
                                        </p:tgtEl>
                                        <p:attrNameLst>
                                          <p:attrName>style.visibility</p:attrName>
                                        </p:attrNameLst>
                                      </p:cBhvr>
                                      <p:to>
                                        <p:strVal val="visible"/>
                                      </p:to>
                                    </p:set>
                                    <p:anim calcmode="lin" valueType="num">
                                      <p:cBhvr additive="base">
                                        <p:cTn id="18" dur="500"/>
                                        <p:tgtEl>
                                          <p:spTgt spid="2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5"/>
          <p:cNvSpPr txBox="1"/>
          <p:nvPr/>
        </p:nvSpPr>
        <p:spPr>
          <a:xfrm>
            <a:off x="1376045" y="1192530"/>
            <a:ext cx="4564380" cy="10147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The Views in MVC are HTML templates with embedded Razor mark-up which generate content that sends to the client.</a:t>
            </a:r>
            <a:endParaRPr sz="2000" b="0" i="0" u="none" strike="noStrike" cap="none">
              <a:solidFill>
                <a:schemeClr val="lt1"/>
              </a:solidFill>
              <a:latin typeface="Calibri"/>
              <a:ea typeface="Calibri"/>
              <a:cs typeface="Calibri"/>
              <a:sym typeface="Calibri"/>
            </a:endParaRPr>
          </a:p>
        </p:txBody>
      </p:sp>
      <p:sp>
        <p:nvSpPr>
          <p:cNvPr id="259" name="Google Shape;259;p15"/>
          <p:cNvSpPr txBox="1"/>
          <p:nvPr/>
        </p:nvSpPr>
        <p:spPr>
          <a:xfrm>
            <a:off x="1376045" y="3952875"/>
            <a:ext cx="4564380" cy="706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Views are returned from the controller Action Method</a:t>
            </a:r>
            <a:endParaRPr sz="2000" b="0" i="0" u="none" strike="noStrike" cap="none">
              <a:solidFill>
                <a:schemeClr val="lt1"/>
              </a:solidFill>
              <a:latin typeface="Calibri"/>
              <a:ea typeface="Calibri"/>
              <a:cs typeface="Calibri"/>
              <a:sym typeface="Calibri"/>
            </a:endParaRPr>
          </a:p>
        </p:txBody>
      </p:sp>
      <p:pic>
        <p:nvPicPr>
          <p:cNvPr id="260" name="Google Shape;260;p15" descr="13338131_5214651 (1)"/>
          <p:cNvPicPr preferRelativeResize="0">
            <a:picLocks noGrp="1"/>
          </p:cNvPicPr>
          <p:nvPr>
            <p:ph type="body" idx="1"/>
          </p:nvPr>
        </p:nvPicPr>
        <p:blipFill rotWithShape="1">
          <a:blip r:embed="rId3">
            <a:alphaModFix/>
          </a:blip>
          <a:srcRect/>
          <a:stretch/>
        </p:blipFill>
        <p:spPr>
          <a:xfrm>
            <a:off x="7094855" y="870585"/>
            <a:ext cx="4351655" cy="4351655"/>
          </a:xfrm>
          <a:prstGeom prst="rect">
            <a:avLst/>
          </a:prstGeom>
          <a:noFill/>
          <a:ln>
            <a:noFill/>
          </a:ln>
        </p:spPr>
      </p:pic>
      <p:pic>
        <p:nvPicPr>
          <p:cNvPr id="261" name="Google Shape;261;p15" descr="Aitrich-Logo-Transparent-BG-1536x504"/>
          <p:cNvPicPr preferRelativeResize="0"/>
          <p:nvPr/>
        </p:nvPicPr>
        <p:blipFill rotWithShape="1">
          <a:blip r:embed="rId4">
            <a:alphaModFix/>
          </a:blip>
          <a:srcRect/>
          <a:stretch/>
        </p:blipFill>
        <p:spPr>
          <a:xfrm>
            <a:off x="332740" y="6298565"/>
            <a:ext cx="1101090" cy="361315"/>
          </a:xfrm>
          <a:prstGeom prst="rect">
            <a:avLst/>
          </a:prstGeom>
          <a:noFill/>
          <a:ln>
            <a:noFill/>
          </a:ln>
        </p:spPr>
      </p:pic>
      <p:sp>
        <p:nvSpPr>
          <p:cNvPr id="262" name="Google Shape;262;p15"/>
          <p:cNvSpPr/>
          <p:nvPr/>
        </p:nvSpPr>
        <p:spPr>
          <a:xfrm>
            <a:off x="1332447" y="2207259"/>
            <a:ext cx="6312953" cy="4091305"/>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p15"/>
          <p:cNvSpPr txBox="1"/>
          <p:nvPr/>
        </p:nvSpPr>
        <p:spPr>
          <a:xfrm>
            <a:off x="883285" y="870585"/>
            <a:ext cx="10359679"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none" strike="noStrike" cap="none">
                <a:solidFill>
                  <a:srgbClr val="0D0D0D"/>
                </a:solidFill>
                <a:latin typeface="Arial"/>
                <a:ea typeface="Arial"/>
                <a:cs typeface="Arial"/>
                <a:sym typeface="Arial"/>
              </a:rPr>
              <a:t>Basic overview of how views work in ASP.NET Core</a:t>
            </a:r>
            <a:endParaRPr sz="3200" b="0" i="0" u="none" strike="noStrike" cap="none">
              <a:solidFill>
                <a:srgbClr val="000000"/>
              </a:solidFill>
              <a:latin typeface="Arial"/>
              <a:ea typeface="Arial"/>
              <a:cs typeface="Arial"/>
              <a:sym typeface="Arial"/>
            </a:endParaRPr>
          </a:p>
        </p:txBody>
      </p:sp>
      <p:sp>
        <p:nvSpPr>
          <p:cNvPr id="264" name="Google Shape;264;p15"/>
          <p:cNvSpPr txBox="1"/>
          <p:nvPr/>
        </p:nvSpPr>
        <p:spPr>
          <a:xfrm>
            <a:off x="1995054" y="2369127"/>
            <a:ext cx="4564380" cy="335906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i="0" u="none" strike="noStrike" cap="none">
                <a:solidFill>
                  <a:schemeClr val="lt1"/>
                </a:solidFill>
                <a:latin typeface="Calibri"/>
                <a:ea typeface="Calibri"/>
                <a:cs typeface="Calibri"/>
                <a:sym typeface="Calibri"/>
              </a:rPr>
              <a:t>View Templates</a:t>
            </a:r>
            <a:endParaRPr/>
          </a:p>
          <a:p>
            <a:pPr marL="0" marR="0" lvl="0" indent="0" algn="l" rtl="0">
              <a:lnSpc>
                <a:spcPct val="150000"/>
              </a:lnSpc>
              <a:spcBef>
                <a:spcPts val="0"/>
              </a:spcBef>
              <a:spcAft>
                <a:spcPts val="0"/>
              </a:spcAft>
              <a:buNone/>
            </a:pPr>
            <a:r>
              <a:rPr lang="en-US" sz="2400" b="1" i="0" u="none" strike="noStrike" cap="none">
                <a:solidFill>
                  <a:schemeClr val="lt1"/>
                </a:solidFill>
                <a:latin typeface="Calibri"/>
                <a:ea typeface="Calibri"/>
                <a:cs typeface="Calibri"/>
                <a:sym typeface="Calibri"/>
              </a:rPr>
              <a:t>Razor Syntax</a:t>
            </a:r>
            <a:endParaRPr/>
          </a:p>
          <a:p>
            <a:pPr marL="0" marR="0" lvl="0" indent="0" algn="l" rtl="0">
              <a:lnSpc>
                <a:spcPct val="150000"/>
              </a:lnSpc>
              <a:spcBef>
                <a:spcPts val="0"/>
              </a:spcBef>
              <a:spcAft>
                <a:spcPts val="0"/>
              </a:spcAft>
              <a:buNone/>
            </a:pPr>
            <a:r>
              <a:rPr lang="en-US" sz="2400" b="1" i="0" u="none" strike="noStrike" cap="none">
                <a:solidFill>
                  <a:schemeClr val="lt1"/>
                </a:solidFill>
                <a:latin typeface="Calibri"/>
                <a:ea typeface="Calibri"/>
                <a:cs typeface="Calibri"/>
                <a:sym typeface="Calibri"/>
              </a:rPr>
              <a:t>Data Passing</a:t>
            </a:r>
            <a:endParaRPr/>
          </a:p>
          <a:p>
            <a:pPr marL="0" marR="0" lvl="0" indent="0" algn="l" rtl="0">
              <a:lnSpc>
                <a:spcPct val="150000"/>
              </a:lnSpc>
              <a:spcBef>
                <a:spcPts val="0"/>
              </a:spcBef>
              <a:spcAft>
                <a:spcPts val="0"/>
              </a:spcAft>
              <a:buNone/>
            </a:pPr>
            <a:r>
              <a:rPr lang="en-US" sz="2400" b="1" i="0" u="none" strike="noStrike" cap="none">
                <a:solidFill>
                  <a:schemeClr val="lt1"/>
                </a:solidFill>
                <a:latin typeface="Calibri"/>
                <a:ea typeface="Calibri"/>
                <a:cs typeface="Calibri"/>
                <a:sym typeface="Calibri"/>
              </a:rPr>
              <a:t>Layouts</a:t>
            </a:r>
            <a:endParaRPr/>
          </a:p>
          <a:p>
            <a:pPr marL="0" marR="0" lvl="0" indent="0" algn="l" rtl="0">
              <a:lnSpc>
                <a:spcPct val="150000"/>
              </a:lnSpc>
              <a:spcBef>
                <a:spcPts val="0"/>
              </a:spcBef>
              <a:spcAft>
                <a:spcPts val="0"/>
              </a:spcAft>
              <a:buNone/>
            </a:pPr>
            <a:r>
              <a:rPr lang="en-US" sz="2400" b="1" i="0" u="none" strike="noStrike" cap="none">
                <a:solidFill>
                  <a:schemeClr val="lt1"/>
                </a:solidFill>
                <a:latin typeface="Calibri"/>
                <a:ea typeface="Calibri"/>
                <a:cs typeface="Calibri"/>
                <a:sym typeface="Calibri"/>
              </a:rPr>
              <a:t>View Components</a:t>
            </a:r>
            <a:endParaRPr sz="2400" b="1" i="0" u="none" strike="noStrike" cap="none">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b="1" i="0" u="none" strike="noStrike" cap="none">
                <a:solidFill>
                  <a:schemeClr val="lt1"/>
                </a:solidFill>
                <a:latin typeface="Calibri"/>
                <a:ea typeface="Calibri"/>
                <a:cs typeface="Calibri"/>
                <a:sym typeface="Calibri"/>
              </a:rPr>
              <a:t>View Rendering:</a:t>
            </a:r>
            <a:endParaRPr sz="2400" b="1"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 calcmode="lin" valueType="num">
                                      <p:cBhvr additive="base">
                                        <p:cTn id="7" dur="500"/>
                                        <p:tgtEl>
                                          <p:spTgt spid="25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2"/>
                                        </p:tgtEl>
                                        <p:attrNameLst>
                                          <p:attrName>style.visibility</p:attrName>
                                        </p:attrNameLst>
                                      </p:cBhvr>
                                      <p:to>
                                        <p:strVal val="visible"/>
                                      </p:to>
                                    </p:set>
                                    <p:anim calcmode="lin" valueType="num">
                                      <p:cBhvr additive="base">
                                        <p:cTn id="12" dur="500"/>
                                        <p:tgtEl>
                                          <p:spTgt spid="2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16" descr="Aitrich-Logo-Transparent-BG-1536x504"/>
          <p:cNvPicPr preferRelativeResize="0"/>
          <p:nvPr/>
        </p:nvPicPr>
        <p:blipFill rotWithShape="1">
          <a:blip r:embed="rId3">
            <a:alphaModFix/>
          </a:blip>
          <a:srcRect/>
          <a:stretch/>
        </p:blipFill>
        <p:spPr>
          <a:xfrm>
            <a:off x="286385" y="6325235"/>
            <a:ext cx="1101090" cy="361315"/>
          </a:xfrm>
          <a:prstGeom prst="rect">
            <a:avLst/>
          </a:prstGeom>
          <a:noFill/>
          <a:ln>
            <a:noFill/>
          </a:ln>
        </p:spPr>
      </p:pic>
      <p:pic>
        <p:nvPicPr>
          <p:cNvPr id="7" name="Picture 6">
            <a:extLst>
              <a:ext uri="{FF2B5EF4-FFF2-40B4-BE49-F238E27FC236}">
                <a16:creationId xmlns:a16="http://schemas.microsoft.com/office/drawing/2014/main" id="{FB6DB77D-559D-4F2F-A5B1-B29AFC125F9F}"/>
              </a:ext>
            </a:extLst>
          </p:cNvPr>
          <p:cNvPicPr>
            <a:picLocks noChangeAspect="1"/>
          </p:cNvPicPr>
          <p:nvPr/>
        </p:nvPicPr>
        <p:blipFill>
          <a:blip r:embed="rId4"/>
          <a:stretch>
            <a:fillRect/>
          </a:stretch>
        </p:blipFill>
        <p:spPr>
          <a:xfrm>
            <a:off x="741680" y="294640"/>
            <a:ext cx="10810240" cy="6030595"/>
          </a:xfrm>
          <a:prstGeom prst="rect">
            <a:avLst/>
          </a:prstGeom>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Calibri"/>
              <a:buNone/>
            </a:pPr>
            <a:r>
              <a:rPr lang="en-US">
                <a:solidFill>
                  <a:schemeClr val="dk2"/>
                </a:solidFill>
              </a:rPr>
              <a:t>How does MVC Design Pattern work in ASP.NET Core?</a:t>
            </a:r>
            <a:endParaRPr>
              <a:solidFill>
                <a:schemeClr val="dk2"/>
              </a:solidFill>
            </a:endParaRPr>
          </a:p>
        </p:txBody>
      </p:sp>
      <p:pic>
        <p:nvPicPr>
          <p:cNvPr id="277" name="Google Shape;277;p17" descr="Capture8"/>
          <p:cNvPicPr preferRelativeResize="0">
            <a:picLocks noGrp="1"/>
          </p:cNvPicPr>
          <p:nvPr>
            <p:ph type="body" idx="1"/>
          </p:nvPr>
        </p:nvPicPr>
        <p:blipFill rotWithShape="1">
          <a:blip r:embed="rId3">
            <a:alphaModFix/>
          </a:blip>
          <a:srcRect/>
          <a:stretch/>
        </p:blipFill>
        <p:spPr>
          <a:xfrm>
            <a:off x="6764020" y="2883535"/>
            <a:ext cx="5181600" cy="1739265"/>
          </a:xfrm>
          <a:prstGeom prst="rect">
            <a:avLst/>
          </a:prstGeom>
          <a:noFill/>
          <a:ln>
            <a:noFill/>
          </a:ln>
        </p:spPr>
      </p:pic>
      <p:sp>
        <p:nvSpPr>
          <p:cNvPr id="278" name="Google Shape;278;p17"/>
          <p:cNvSpPr txBox="1"/>
          <p:nvPr/>
        </p:nvSpPr>
        <p:spPr>
          <a:xfrm>
            <a:off x="652145" y="1885315"/>
            <a:ext cx="5489575" cy="483108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1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Controler Handles the incoming request.</a:t>
            </a:r>
            <a:endParaRPr sz="2000" b="0" i="0" u="none" strike="noStrike" cap="none">
              <a:solidFill>
                <a:schemeClr val="dk1"/>
              </a:solidFill>
              <a:latin typeface="Calibri"/>
              <a:ea typeface="Calibri"/>
              <a:cs typeface="Calibri"/>
              <a:sym typeface="Calibri"/>
            </a:endParaRPr>
          </a:p>
          <a:p>
            <a:pPr marL="457200" marR="0" lvl="0" indent="-457200" algn="l" rtl="0">
              <a:lnSpc>
                <a:spcPct val="11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Controller component creates the model that is required by a view .</a:t>
            </a:r>
            <a:endParaRPr sz="2000" b="0" i="0" u="none" strike="noStrike" cap="none">
              <a:solidFill>
                <a:schemeClr val="dk1"/>
              </a:solidFill>
              <a:latin typeface="Calibri"/>
              <a:ea typeface="Calibri"/>
              <a:cs typeface="Calibri"/>
              <a:sym typeface="Calibri"/>
            </a:endParaRPr>
          </a:p>
          <a:p>
            <a:pPr marL="457200" marR="0" lvl="0" indent="-457200" algn="l" rtl="0">
              <a:lnSpc>
                <a:spcPct val="11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Once the model created by the controller, then the controller selects a view to render the domain data or model data.</a:t>
            </a:r>
            <a:endParaRPr sz="2000" b="0" i="0" u="none" strike="noStrike" cap="none">
              <a:solidFill>
                <a:schemeClr val="dk1"/>
              </a:solidFill>
              <a:latin typeface="Calibri"/>
              <a:ea typeface="Calibri"/>
              <a:cs typeface="Calibri"/>
              <a:sym typeface="Calibri"/>
            </a:endParaRPr>
          </a:p>
          <a:p>
            <a:pPr marL="457200" marR="0" lvl="0" indent="-457200" algn="l" rtl="0">
              <a:lnSpc>
                <a:spcPct val="11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While selecting a view, it is also the responsibility of the controller to pass the model data.</a:t>
            </a:r>
            <a:endParaRPr sz="2000" b="0" i="0" u="none" strike="noStrike" cap="none">
              <a:solidFill>
                <a:schemeClr val="dk1"/>
              </a:solidFill>
              <a:latin typeface="Calibri"/>
              <a:ea typeface="Calibri"/>
              <a:cs typeface="Calibri"/>
              <a:sym typeface="Calibri"/>
            </a:endParaRPr>
          </a:p>
          <a:p>
            <a:pPr marL="457200" marR="0" lvl="0" indent="-457200" algn="l" rtl="0">
              <a:lnSpc>
                <a:spcPct val="11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View generates the necessary HTML render the model data.</a:t>
            </a:r>
            <a:endParaRPr sz="2000" b="0" i="0" u="none" strike="noStrike" cap="none">
              <a:solidFill>
                <a:schemeClr val="dk1"/>
              </a:solidFill>
              <a:latin typeface="Calibri"/>
              <a:ea typeface="Calibri"/>
              <a:cs typeface="Calibri"/>
              <a:sym typeface="Calibri"/>
            </a:endParaRPr>
          </a:p>
          <a:p>
            <a:pPr marL="457200" marR="0" lvl="0" indent="-457200" algn="l" rtl="0">
              <a:lnSpc>
                <a:spcPct val="11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Once the HTML is generated the view is send to the client through the network</a:t>
            </a:r>
            <a:endParaRPr sz="2000" b="0" i="0" u="none" strike="noStrike" cap="none">
              <a:solidFill>
                <a:schemeClr val="dk1"/>
              </a:solidFill>
              <a:latin typeface="Calibri"/>
              <a:ea typeface="Calibri"/>
              <a:cs typeface="Calibri"/>
              <a:sym typeface="Calibri"/>
            </a:endParaRPr>
          </a:p>
          <a:p>
            <a:pPr marL="457200" marR="0" lvl="0" indent="-457200" algn="l" rtl="0">
              <a:lnSpc>
                <a:spcPct val="11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279" name="Google Shape;279;p17" descr="Aitrich-Logo-Transparent-BG-1536x504"/>
          <p:cNvPicPr preferRelativeResize="0"/>
          <p:nvPr/>
        </p:nvPicPr>
        <p:blipFill rotWithShape="1">
          <a:blip r:embed="rId4">
            <a:alphaModFix/>
          </a:blip>
          <a:srcRect/>
          <a:stretch/>
        </p:blipFill>
        <p:spPr>
          <a:xfrm>
            <a:off x="286385" y="6325235"/>
            <a:ext cx="1101090" cy="36131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8"/>
                                        </p:tgtEl>
                                        <p:attrNameLst>
                                          <p:attrName>style.visibility</p:attrName>
                                        </p:attrNameLst>
                                      </p:cBhvr>
                                      <p:to>
                                        <p:strVal val="visible"/>
                                      </p:to>
                                    </p:set>
                                    <p:anim calcmode="lin" valueType="num">
                                      <p:cBhvr additive="base">
                                        <p:cTn id="7" dur="500"/>
                                        <p:tgtEl>
                                          <p:spTgt spid="2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18" descr="33103204_socialmedia_tech_36"/>
          <p:cNvPicPr preferRelativeResize="0">
            <a:picLocks noGrp="1"/>
          </p:cNvPicPr>
          <p:nvPr>
            <p:ph type="body" idx="1"/>
          </p:nvPr>
        </p:nvPicPr>
        <p:blipFill rotWithShape="1">
          <a:blip r:embed="rId3">
            <a:alphaModFix/>
          </a:blip>
          <a:srcRect/>
          <a:stretch/>
        </p:blipFill>
        <p:spPr>
          <a:xfrm>
            <a:off x="-635" y="635"/>
            <a:ext cx="12192000" cy="6858000"/>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4132</Words>
  <Application>Microsoft Office PowerPoint</Application>
  <PresentationFormat>Widescreen</PresentationFormat>
  <Paragraphs>191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Noto Sans Symbols</vt:lpstr>
      <vt:lpstr>Arial</vt:lpstr>
      <vt:lpstr>Calibri</vt:lpstr>
      <vt:lpstr>Office Theme</vt:lpstr>
      <vt:lpstr>MVC(Model-View- Controller)</vt:lpstr>
      <vt:lpstr>What is MVC?</vt:lpstr>
      <vt:lpstr>What is ASP.NET Core MVC?</vt:lpstr>
      <vt:lpstr>How to Set up MVC Application  in ASP.NET Core</vt:lpstr>
      <vt:lpstr>PowerPoint Presentation</vt:lpstr>
      <vt:lpstr>Model</vt:lpstr>
      <vt:lpstr>PowerPoint Presentation</vt:lpstr>
      <vt:lpstr>ASP.NET Core Dependency Injection</vt:lpstr>
      <vt:lpstr>PowerPoint Presentation</vt:lpstr>
      <vt:lpstr>How to register a Service with ASP.NET Core Dependency Injection Container?</vt:lpstr>
      <vt:lpstr>Controller</vt:lpstr>
      <vt:lpstr>PowerPoint Presentation</vt:lpstr>
      <vt:lpstr>PowerPoint Presentation</vt:lpstr>
      <vt:lpstr>What are Action Methods?</vt:lpstr>
      <vt:lpstr>Views in ASP.NET Core MVC</vt:lpstr>
      <vt:lpstr>PowerPoint Presentation</vt:lpstr>
      <vt:lpstr>PowerPoint Presentation</vt:lpstr>
      <vt:lpstr>How does MVC Design Pattern work in ASP.NET Core?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MVC(Model-View- Controller)</dc:title>
  <cp:lastModifiedBy>Reeshma Saigal</cp:lastModifiedBy>
  <cp:revision>1</cp:revision>
  <dcterms:created xsi:type="dcterms:W3CDTF">2023-06-10T11:11:00Z</dcterms:created>
  <dcterms:modified xsi:type="dcterms:W3CDTF">2026-03-07T11:06:10Z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E609BE4ECE0043A5B81DBB654FBD74A3</vt:lpwstr>
  </property>
  <property fmtid="{D5CDD505-2E9C-101B-9397-08002B2CF9AE}" pid="3" name="KSOProductBuildVer">
    <vt:lpwstr>1033-11.2.0.11537</vt:lpwstr>
  </property>
</Properties>
</file>